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257" r:id="rId2"/>
    <p:sldId id="266" r:id="rId3"/>
    <p:sldId id="272" r:id="rId4"/>
    <p:sldId id="302" r:id="rId5"/>
    <p:sldId id="303" r:id="rId6"/>
    <p:sldId id="313" r:id="rId7"/>
    <p:sldId id="314" r:id="rId8"/>
    <p:sldId id="305" r:id="rId9"/>
    <p:sldId id="315" r:id="rId10"/>
    <p:sldId id="316" r:id="rId11"/>
    <p:sldId id="273" r:id="rId12"/>
    <p:sldId id="318" r:id="rId13"/>
    <p:sldId id="319" r:id="rId14"/>
    <p:sldId id="320" r:id="rId15"/>
    <p:sldId id="321" r:id="rId16"/>
    <p:sldId id="323" r:id="rId17"/>
    <p:sldId id="328" r:id="rId18"/>
    <p:sldId id="324" r:id="rId19"/>
    <p:sldId id="332" r:id="rId20"/>
    <p:sldId id="329" r:id="rId21"/>
    <p:sldId id="32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urul Ilahi" initials="NI" lastIdx="1" clrIdx="0">
    <p:extLst>
      <p:ext uri="{19B8F6BF-5375-455C-9EA6-DF929625EA0E}">
        <p15:presenceInfo xmlns:p15="http://schemas.microsoft.com/office/powerpoint/2012/main" userId="bfbd8ec15b01ec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68A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810" autoAdjust="0"/>
  </p:normalViewPr>
  <p:slideViewPr>
    <p:cSldViewPr snapToGrid="0" showGuides="1">
      <p:cViewPr varScale="1">
        <p:scale>
          <a:sx n="70" d="100"/>
          <a:sy n="70" d="100"/>
        </p:scale>
        <p:origin x="738" y="54"/>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10/4/2023</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10/4/2023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nurul-ilahi-husnah27/"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github.com/NurulIlahiHusnah/"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xlsx"/><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51CEBEB-5088-4E63-81A4-0DCEB5B45207}"/>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p:txBody>
          <a:bodyPr/>
          <a:lstStyle/>
          <a:p>
            <a:r>
              <a:rPr lang="en-US" dirty="0" err="1"/>
              <a:t>Prediksi</a:t>
            </a:r>
            <a:r>
              <a:rPr lang="en-US" dirty="0"/>
              <a:t> Credit Risk VIX </a:t>
            </a:r>
            <a:r>
              <a:rPr lang="en-US" dirty="0" err="1"/>
              <a:t>Idx</a:t>
            </a:r>
            <a:r>
              <a:rPr lang="en-US" dirty="0"/>
              <a:t> Partner</a:t>
            </a:r>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a:xfrm>
            <a:off x="6905625" y="4927600"/>
            <a:ext cx="4986338" cy="1367183"/>
          </a:xfrm>
        </p:spPr>
        <p:txBody>
          <a:bodyPr>
            <a:normAutofit/>
          </a:bodyPr>
          <a:lstStyle/>
          <a:p>
            <a:r>
              <a:rPr lang="en-US" dirty="0"/>
              <a:t>Nurul Ilahi </a:t>
            </a:r>
            <a:r>
              <a:rPr lang="en-US" dirty="0" err="1"/>
              <a:t>Husnah</a:t>
            </a:r>
            <a:endParaRPr lang="en-US" dirty="0"/>
          </a:p>
          <a:p>
            <a:r>
              <a:rPr lang="en-US" dirty="0" err="1"/>
              <a:t>Linkedin</a:t>
            </a:r>
            <a:r>
              <a:rPr lang="en-US" dirty="0"/>
              <a:t> : </a:t>
            </a:r>
            <a:r>
              <a:rPr lang="en-US" dirty="0">
                <a:solidFill>
                  <a:srgbClr val="FFFF00"/>
                </a:solidFill>
                <a:hlinkClick r:id="rId3">
                  <a:extLst>
                    <a:ext uri="{A12FA001-AC4F-418D-AE19-62706E023703}">
                      <ahyp:hlinkClr xmlns:ahyp="http://schemas.microsoft.com/office/drawing/2018/hyperlinkcolor" val="tx"/>
                    </a:ext>
                  </a:extLst>
                </a:hlinkClick>
              </a:rPr>
              <a:t>click here</a:t>
            </a:r>
            <a:endParaRPr lang="en-US" dirty="0">
              <a:solidFill>
                <a:srgbClr val="FFFF00"/>
              </a:solidFill>
            </a:endParaRPr>
          </a:p>
          <a:p>
            <a:r>
              <a:rPr lang="en-US" dirty="0" err="1"/>
              <a:t>Portofolio</a:t>
            </a:r>
            <a:r>
              <a:rPr lang="en-US" dirty="0"/>
              <a:t> : </a:t>
            </a:r>
            <a:r>
              <a:rPr lang="en-US" dirty="0">
                <a:solidFill>
                  <a:srgbClr val="FFFF00"/>
                </a:solidFill>
                <a:hlinkClick r:id="rId4">
                  <a:extLst>
                    <a:ext uri="{A12FA001-AC4F-418D-AE19-62706E023703}">
                      <ahyp:hlinkClr xmlns:ahyp="http://schemas.microsoft.com/office/drawing/2018/hyperlinkcolor" val="tx"/>
                    </a:ext>
                  </a:extLst>
                </a:hlinkClick>
              </a:rPr>
              <a:t>click here</a:t>
            </a:r>
            <a:endParaRPr lang="en-US" dirty="0">
              <a:solidFill>
                <a:srgbClr val="FFFF00"/>
              </a:solidFill>
            </a:endParaRPr>
          </a:p>
        </p:txBody>
      </p:sp>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6619198" y="487919"/>
            <a:ext cx="5272764" cy="781470"/>
          </a:xfrm>
        </p:spPr>
        <p:txBody>
          <a:bodyPr/>
          <a:lstStyle/>
          <a:p>
            <a:pPr algn="ctr"/>
            <a:r>
              <a:rPr lang="en-US" dirty="0"/>
              <a:t>Problem Statement</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556814" y="1343520"/>
            <a:ext cx="5272764" cy="2001616"/>
          </a:xfrm>
        </p:spPr>
        <p:txBody>
          <a:bodyPr>
            <a:normAutofit fontScale="92500" lnSpcReduction="20000"/>
          </a:bodyPr>
          <a:lstStyle/>
          <a:p>
            <a:pPr marL="0" indent="0" algn="ctr">
              <a:lnSpc>
                <a:spcPct val="107000"/>
              </a:lnSpc>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Dalam 2 tahun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terakhir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tingkat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credit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macet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meningkat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hal</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ini sangat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berdampat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buruk</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untuk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kondisi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bank.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Pihak</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bank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membutuhkan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solisi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yang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tepat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untuk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menangani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keadaan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bank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saat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ini.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Pihak</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bank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meminta</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untuk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mencari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tau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apa</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sebab</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terjadi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kredit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card yang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terjadi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dan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meminta</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untuk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membuatkan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sebuah</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model yang bisa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memprediksi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kredit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risk agar dapat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ditangani</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dengan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tepat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sasaran</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D"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a:lstStyle/>
          <a:p>
            <a:fld id="{03DC2DEF-D2FE-4B45-ABA4-9F153FD1C98A}" type="slidenum">
              <a:rPr lang="en-US" smtClean="0"/>
              <a:t>2</a:t>
            </a:fld>
            <a:endParaRPr lang="en-US" dirty="0"/>
          </a:p>
        </p:txBody>
      </p:sp>
      <p:pic>
        <p:nvPicPr>
          <p:cNvPr id="2" name="Picture 1">
            <a:extLst>
              <a:ext uri="{FF2B5EF4-FFF2-40B4-BE49-F238E27FC236}">
                <a16:creationId xmlns:a16="http://schemas.microsoft.com/office/drawing/2014/main" id="{64ECA9E9-77B1-75A3-149E-21C9F4793568}"/>
              </a:ext>
            </a:extLst>
          </p:cNvPr>
          <p:cNvPicPr>
            <a:picLocks noChangeAspect="1"/>
          </p:cNvPicPr>
          <p:nvPr/>
        </p:nvPicPr>
        <p:blipFill>
          <a:blip r:embed="rId2"/>
          <a:stretch>
            <a:fillRect/>
          </a:stretch>
        </p:blipFill>
        <p:spPr>
          <a:xfrm>
            <a:off x="540234" y="1007165"/>
            <a:ext cx="5797920" cy="3910583"/>
          </a:xfrm>
          <a:prstGeom prst="rect">
            <a:avLst/>
          </a:prstGeom>
        </p:spPr>
      </p:pic>
      <p:sp>
        <p:nvSpPr>
          <p:cNvPr id="8" name="Title 5">
            <a:extLst>
              <a:ext uri="{FF2B5EF4-FFF2-40B4-BE49-F238E27FC236}">
                <a16:creationId xmlns:a16="http://schemas.microsoft.com/office/drawing/2014/main" id="{C3C23D47-2C92-2764-8A3B-124D7CEC1BBF}"/>
              </a:ext>
            </a:extLst>
          </p:cNvPr>
          <p:cNvSpPr txBox="1">
            <a:spLocks/>
          </p:cNvSpPr>
          <p:nvPr/>
        </p:nvSpPr>
        <p:spPr>
          <a:xfrm>
            <a:off x="6775474" y="3452652"/>
            <a:ext cx="5272764" cy="78147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dirty="0" err="1"/>
              <a:t>Bisnis</a:t>
            </a:r>
            <a:r>
              <a:rPr lang="en-US" dirty="0"/>
              <a:t> </a:t>
            </a:r>
            <a:r>
              <a:rPr lang="en-US" dirty="0" err="1"/>
              <a:t>Metrik</a:t>
            </a:r>
            <a:endParaRPr lang="en-US" dirty="0"/>
          </a:p>
        </p:txBody>
      </p:sp>
      <p:sp>
        <p:nvSpPr>
          <p:cNvPr id="9" name="Content Placeholder 6">
            <a:extLst>
              <a:ext uri="{FF2B5EF4-FFF2-40B4-BE49-F238E27FC236}">
                <a16:creationId xmlns:a16="http://schemas.microsoft.com/office/drawing/2014/main" id="{CACB32A4-0B2C-BC05-F2D7-DB630CCC6340}"/>
              </a:ext>
            </a:extLst>
          </p:cNvPr>
          <p:cNvSpPr txBox="1">
            <a:spLocks/>
          </p:cNvSpPr>
          <p:nvPr/>
        </p:nvSpPr>
        <p:spPr>
          <a:xfrm>
            <a:off x="6543562" y="4227252"/>
            <a:ext cx="5272764" cy="4679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err="1">
                <a:latin typeface="Times New Roman" panose="02020603050405020304" pitchFamily="18" charset="0"/>
                <a:cs typeface="Times New Roman" panose="02020603050405020304" pitchFamily="18" charset="0"/>
              </a:rPr>
              <a:t>Mengurangi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jumlah</a:t>
            </a:r>
            <a:r>
              <a:rPr lang="en-US" sz="1800" dirty="0">
                <a:latin typeface="Times New Roman" panose="02020603050405020304" pitchFamily="18" charset="0"/>
                <a:cs typeface="Times New Roman" panose="02020603050405020304" pitchFamily="18" charset="0"/>
              </a:rPr>
              <a:t> </a:t>
            </a:r>
            <a:r>
              <a:rPr lang="en-ID" sz="1800" dirty="0" err="1">
                <a:solidFill>
                  <a:srgbClr val="252525"/>
                </a:solidFill>
                <a:latin typeface="Times New Roman" panose="02020603050405020304" pitchFamily="18" charset="0"/>
                <a:cs typeface="Times New Roman" panose="02020603050405020304" pitchFamily="18" charset="0"/>
              </a:rPr>
              <a:t>n</a:t>
            </a:r>
            <a:r>
              <a:rPr lang="en-ID" sz="1800" b="0" i="0" dirty="0" err="1">
                <a:solidFill>
                  <a:srgbClr val="252525"/>
                </a:solidFill>
                <a:effectLst/>
                <a:latin typeface="Times New Roman" panose="02020603050405020304" pitchFamily="18" charset="0"/>
                <a:cs typeface="Times New Roman" panose="02020603050405020304" pitchFamily="18" charset="0"/>
              </a:rPr>
              <a:t>ilai</a:t>
            </a:r>
            <a:r>
              <a:rPr lang="en-ID" sz="1800" b="0" i="0" dirty="0">
                <a:solidFill>
                  <a:srgbClr val="252525"/>
                </a:solidFill>
                <a:effectLst/>
                <a:latin typeface="Times New Roman" panose="02020603050405020304" pitchFamily="18" charset="0"/>
                <a:cs typeface="Times New Roman" panose="02020603050405020304" pitchFamily="18" charset="0"/>
              </a:rPr>
              <a:t> </a:t>
            </a:r>
            <a:r>
              <a:rPr lang="en-ID" sz="1800" b="0" i="0" dirty="0" err="1">
                <a:solidFill>
                  <a:srgbClr val="252525"/>
                </a:solidFill>
                <a:effectLst/>
                <a:latin typeface="Times New Roman" panose="02020603050405020304" pitchFamily="18" charset="0"/>
                <a:cs typeface="Times New Roman" panose="02020603050405020304" pitchFamily="18" charset="0"/>
              </a:rPr>
              <a:t>risiko</a:t>
            </a:r>
            <a:r>
              <a:rPr lang="en-ID" sz="1800" b="0" i="0" dirty="0">
                <a:solidFill>
                  <a:srgbClr val="252525"/>
                </a:solidFill>
                <a:effectLst/>
                <a:latin typeface="Times New Roman" panose="02020603050405020304" pitchFamily="18" charset="0"/>
                <a:cs typeface="Times New Roman" panose="02020603050405020304" pitchFamily="18" charset="0"/>
              </a:rPr>
              <a:t> </a:t>
            </a:r>
            <a:r>
              <a:rPr lang="en-ID" sz="1800" b="0" i="0" dirty="0" err="1">
                <a:solidFill>
                  <a:srgbClr val="252525"/>
                </a:solidFill>
                <a:effectLst/>
                <a:latin typeface="Times New Roman" panose="02020603050405020304" pitchFamily="18" charset="0"/>
                <a:cs typeface="Times New Roman" panose="02020603050405020304" pitchFamily="18" charset="0"/>
              </a:rPr>
              <a:t>kredit</a:t>
            </a:r>
            <a:endParaRPr lang="en-US" sz="1800" dirty="0">
              <a:latin typeface="Times New Roman" panose="02020603050405020304" pitchFamily="18" charset="0"/>
              <a:cs typeface="Times New Roman" panose="02020603050405020304" pitchFamily="18" charset="0"/>
            </a:endParaRPr>
          </a:p>
        </p:txBody>
      </p:sp>
      <p:sp>
        <p:nvSpPr>
          <p:cNvPr id="11" name="Title 5">
            <a:extLst>
              <a:ext uri="{FF2B5EF4-FFF2-40B4-BE49-F238E27FC236}">
                <a16:creationId xmlns:a16="http://schemas.microsoft.com/office/drawing/2014/main" id="{235F28A2-191F-0BA5-A5DC-0AC30D56AF11}"/>
              </a:ext>
            </a:extLst>
          </p:cNvPr>
          <p:cNvSpPr txBox="1">
            <a:spLocks/>
          </p:cNvSpPr>
          <p:nvPr/>
        </p:nvSpPr>
        <p:spPr>
          <a:xfrm>
            <a:off x="8136463" y="4677489"/>
            <a:ext cx="2238233" cy="65924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dirty="0"/>
              <a:t>Goal </a:t>
            </a:r>
          </a:p>
        </p:txBody>
      </p:sp>
      <p:sp>
        <p:nvSpPr>
          <p:cNvPr id="12" name="Content Placeholder 6">
            <a:extLst>
              <a:ext uri="{FF2B5EF4-FFF2-40B4-BE49-F238E27FC236}">
                <a16:creationId xmlns:a16="http://schemas.microsoft.com/office/drawing/2014/main" id="{C67C8D5F-35CB-D65E-3F94-DDF17D935815}"/>
              </a:ext>
            </a:extLst>
          </p:cNvPr>
          <p:cNvSpPr txBox="1">
            <a:spLocks/>
          </p:cNvSpPr>
          <p:nvPr/>
        </p:nvSpPr>
        <p:spPr>
          <a:xfrm>
            <a:off x="6556814" y="5297146"/>
            <a:ext cx="5272764" cy="12668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800" kern="100" dirty="0" err="1">
                <a:effectLst/>
                <a:latin typeface="Times New Roman" panose="02020603050405020304" pitchFamily="18" charset="0"/>
                <a:ea typeface="Calibri" panose="020F0502020204030204" pitchFamily="34" charset="0"/>
                <a:cs typeface="Times New Roman" panose="02020603050405020304" pitchFamily="18" charset="0"/>
              </a:rPr>
              <a:t>Meng</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urangi</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kerugian</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akibat</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gagalnya</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pembayaran</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dengan melakukan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prediksi</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berdasarkan</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riwayat</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nasabah</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untuk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memberikan</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keputasan</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dan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solusi</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yang </a:t>
            </a:r>
            <a:r>
              <a:rPr lang="en-GB" sz="1800" kern="100" dirty="0" err="1">
                <a:latin typeface="Times New Roman" panose="02020603050405020304" pitchFamily="18" charset="0"/>
                <a:ea typeface="Calibri" panose="020F0502020204030204" pitchFamily="34" charset="0"/>
                <a:cs typeface="Times New Roman" panose="02020603050405020304" pitchFamily="18" charset="0"/>
              </a:rPr>
              <a:t>tepat</a:t>
            </a:r>
            <a:r>
              <a:rPr lang="en-GB" sz="1800" kern="100" dirty="0">
                <a:latin typeface="Times New Roman" panose="02020603050405020304" pitchFamily="18" charset="0"/>
                <a:ea typeface="Calibri" panose="020F0502020204030204" pitchFamily="34" charset="0"/>
                <a:cs typeface="Times New Roman" panose="02020603050405020304" pitchFamily="18" charset="0"/>
              </a:rPr>
              <a:t>. </a:t>
            </a:r>
            <a:endParaRPr lang="en-ID"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031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a:xfrm>
            <a:off x="876300" y="2841278"/>
            <a:ext cx="10439400" cy="1175444"/>
          </a:xfrm>
        </p:spPr>
        <p:txBody>
          <a:bodyPr>
            <a:normAutofit/>
          </a:bodyPr>
          <a:lstStyle/>
          <a:p>
            <a:pPr rtl="0">
              <a:spcBef>
                <a:spcPts val="0"/>
              </a:spcBef>
              <a:spcAft>
                <a:spcPts val="0"/>
              </a:spcAft>
            </a:pPr>
            <a:r>
              <a:rPr lang="en-US" dirty="0" err="1"/>
              <a:t>Explaratory</a:t>
            </a:r>
            <a:r>
              <a:rPr lang="en-US" dirty="0"/>
              <a:t> Data Analysis</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p:txBody>
          <a:bodyPr/>
          <a:lstStyle/>
          <a:p>
            <a:fld id="{03DC2DEF-D2FE-4B45-ABA4-9F153FD1C98A}" type="slidenum">
              <a:rPr lang="en-US" smtClean="0"/>
              <a:t>3</a:t>
            </a:fld>
            <a:endParaRPr lang="en-US" dirty="0"/>
          </a:p>
        </p:txBody>
      </p:sp>
    </p:spTree>
    <p:extLst>
      <p:ext uri="{BB962C8B-B14F-4D97-AF65-F5344CB8AC3E}">
        <p14:creationId xmlns:p14="http://schemas.microsoft.com/office/powerpoint/2010/main" val="346288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47FF4118-8BD8-6D92-5143-95F4B57F291E}"/>
              </a:ext>
            </a:extLst>
          </p:cNvPr>
          <p:cNvSpPr>
            <a:spLocks noGrp="1"/>
          </p:cNvSpPr>
          <p:nvPr>
            <p:ph type="subTitle" idx="1"/>
          </p:nvPr>
        </p:nvSpPr>
        <p:spPr>
          <a:xfrm>
            <a:off x="347931" y="1166910"/>
            <a:ext cx="4416424" cy="675877"/>
          </a:xfrm>
        </p:spPr>
        <p:txBody>
          <a:bodyPr>
            <a:normAutofit/>
          </a:bodyPr>
          <a:lstStyle/>
          <a:p>
            <a:pPr algn="ctr"/>
            <a:r>
              <a:rPr lang="en-ID" sz="2000" b="1" i="1" dirty="0">
                <a:effectLst/>
                <a:latin typeface="Times New Roman" panose="02020603050405020304" pitchFamily="18" charset="0"/>
                <a:cs typeface="Times New Roman" panose="02020603050405020304" pitchFamily="18" charset="0"/>
              </a:rPr>
              <a:t>"</a:t>
            </a:r>
            <a:r>
              <a:rPr lang="en-ID" sz="2000" b="1" i="1" dirty="0" err="1">
                <a:effectLst/>
                <a:latin typeface="Times New Roman" panose="02020603050405020304" pitchFamily="18" charset="0"/>
                <a:cs typeface="Times New Roman" panose="02020603050405020304" pitchFamily="18" charset="0"/>
              </a:rPr>
              <a:t>Analisis</a:t>
            </a:r>
            <a:r>
              <a:rPr lang="en-ID" sz="2000" b="1" i="1" dirty="0">
                <a:latin typeface="Times New Roman" panose="02020603050405020304" pitchFamily="18" charset="0"/>
                <a:cs typeface="Times New Roman" panose="02020603050405020304" pitchFamily="18" charset="0"/>
              </a:rPr>
              <a:t> </a:t>
            </a:r>
            <a:r>
              <a:rPr lang="en-ID" sz="2000" b="1" i="1" dirty="0" err="1">
                <a:latin typeface="Times New Roman" panose="02020603050405020304" pitchFamily="18" charset="0"/>
                <a:cs typeface="Times New Roman" panose="02020603050405020304" pitchFamily="18" charset="0"/>
              </a:rPr>
              <a:t>Jumlah</a:t>
            </a:r>
            <a:r>
              <a:rPr lang="en-ID" sz="2000" b="1" i="1" dirty="0">
                <a:latin typeface="Times New Roman" panose="02020603050405020304" pitchFamily="18" charset="0"/>
                <a:cs typeface="Times New Roman" panose="02020603050405020304" pitchFamily="18" charset="0"/>
              </a:rPr>
              <a:t> </a:t>
            </a:r>
            <a:r>
              <a:rPr lang="en-ID" sz="2000" b="1" i="1" dirty="0" err="1">
                <a:latin typeface="Times New Roman" panose="02020603050405020304" pitchFamily="18" charset="0"/>
                <a:cs typeface="Times New Roman" panose="02020603050405020304" pitchFamily="18" charset="0"/>
              </a:rPr>
              <a:t>Kenakalan</a:t>
            </a:r>
            <a:r>
              <a:rPr lang="en-ID" sz="2000" b="1" i="1" dirty="0">
                <a:latin typeface="Times New Roman" panose="02020603050405020304" pitchFamily="18" charset="0"/>
                <a:cs typeface="Times New Roman" panose="02020603050405020304" pitchFamily="18" charset="0"/>
              </a:rPr>
              <a:t> 2 </a:t>
            </a:r>
            <a:r>
              <a:rPr lang="en-ID" sz="2000" b="1" i="1" dirty="0" err="1">
                <a:latin typeface="Times New Roman" panose="02020603050405020304" pitchFamily="18" charset="0"/>
                <a:cs typeface="Times New Roman" panose="02020603050405020304" pitchFamily="18" charset="0"/>
              </a:rPr>
              <a:t>Tahun</a:t>
            </a:r>
            <a:r>
              <a:rPr lang="en-ID" sz="2000" b="1" i="1" dirty="0">
                <a:latin typeface="Times New Roman" panose="02020603050405020304" pitchFamily="18" charset="0"/>
                <a:cs typeface="Times New Roman" panose="02020603050405020304" pitchFamily="18" charset="0"/>
              </a:rPr>
              <a:t> </a:t>
            </a:r>
            <a:r>
              <a:rPr lang="en-ID" sz="2000" b="1" i="1" dirty="0" err="1">
                <a:latin typeface="Times New Roman" panose="02020603050405020304" pitchFamily="18" charset="0"/>
                <a:cs typeface="Times New Roman" panose="02020603050405020304" pitchFamily="18" charset="0"/>
              </a:rPr>
              <a:t>terakhir</a:t>
            </a:r>
            <a:r>
              <a:rPr lang="en-ID" sz="2000" b="1" i="1" dirty="0">
                <a:latin typeface="Times New Roman" panose="02020603050405020304" pitchFamily="18" charset="0"/>
                <a:cs typeface="Times New Roman" panose="02020603050405020304" pitchFamily="18" charset="0"/>
              </a:rPr>
              <a:t> </a:t>
            </a:r>
            <a:r>
              <a:rPr lang="en-ID" sz="2000" b="1" i="1" dirty="0" err="1">
                <a:latin typeface="Times New Roman" panose="02020603050405020304" pitchFamily="18" charset="0"/>
                <a:cs typeface="Times New Roman" panose="02020603050405020304" pitchFamily="18" charset="0"/>
              </a:rPr>
              <a:t>berdasarkan</a:t>
            </a:r>
            <a:r>
              <a:rPr lang="en-ID" sz="2000" b="1" i="1" dirty="0">
                <a:latin typeface="Times New Roman" panose="02020603050405020304" pitchFamily="18" charset="0"/>
                <a:cs typeface="Times New Roman" panose="02020603050405020304" pitchFamily="18" charset="0"/>
              </a:rPr>
              <a:t> Tenor </a:t>
            </a:r>
            <a:r>
              <a:rPr lang="en-ID" sz="2000" b="1" i="1" dirty="0" err="1">
                <a:latin typeface="Times New Roman" panose="02020603050405020304" pitchFamily="18" charset="0"/>
                <a:cs typeface="Times New Roman" panose="02020603050405020304" pitchFamily="18" charset="0"/>
              </a:rPr>
              <a:t>Pinjaman</a:t>
            </a:r>
            <a:r>
              <a:rPr lang="en-ID" sz="2000" b="1" i="1" dirty="0">
                <a:latin typeface="Times New Roman" panose="02020603050405020304" pitchFamily="18" charset="0"/>
                <a:cs typeface="Times New Roman" panose="02020603050405020304" pitchFamily="18" charset="0"/>
              </a:rPr>
              <a:t>”</a:t>
            </a:r>
          </a:p>
        </p:txBody>
      </p:sp>
      <p:sp>
        <p:nvSpPr>
          <p:cNvPr id="3" name="Picture Placeholder 2">
            <a:extLst>
              <a:ext uri="{FF2B5EF4-FFF2-40B4-BE49-F238E27FC236}">
                <a16:creationId xmlns:a16="http://schemas.microsoft.com/office/drawing/2014/main" id="{681F7312-149B-0F35-BE69-CB0E476AE13A}"/>
              </a:ext>
            </a:extLst>
          </p:cNvPr>
          <p:cNvSpPr>
            <a:spLocks noGrp="1"/>
          </p:cNvSpPr>
          <p:nvPr>
            <p:ph type="pic" sz="quarter" idx="10"/>
          </p:nvPr>
        </p:nvSpPr>
        <p:spPr/>
        <p:txBody>
          <a:bodyPr/>
          <a:lstStyle/>
          <a:p>
            <a:endParaRPr lang="en-ID"/>
          </a:p>
        </p:txBody>
      </p:sp>
      <p:pic>
        <p:nvPicPr>
          <p:cNvPr id="6" name="Picture 5">
            <a:extLst>
              <a:ext uri="{FF2B5EF4-FFF2-40B4-BE49-F238E27FC236}">
                <a16:creationId xmlns:a16="http://schemas.microsoft.com/office/drawing/2014/main" id="{85836189-7CF4-106C-73C6-F19F2EC1CEFF}"/>
              </a:ext>
            </a:extLst>
          </p:cNvPr>
          <p:cNvPicPr>
            <a:picLocks noChangeAspect="1"/>
          </p:cNvPicPr>
          <p:nvPr/>
        </p:nvPicPr>
        <p:blipFill>
          <a:blip r:embed="rId2"/>
          <a:stretch>
            <a:fillRect/>
          </a:stretch>
        </p:blipFill>
        <p:spPr>
          <a:xfrm>
            <a:off x="5016500" y="1504849"/>
            <a:ext cx="7427645" cy="3850008"/>
          </a:xfrm>
          <a:prstGeom prst="rect">
            <a:avLst/>
          </a:prstGeom>
        </p:spPr>
      </p:pic>
      <p:sp>
        <p:nvSpPr>
          <p:cNvPr id="7" name="Content Placeholder 2">
            <a:extLst>
              <a:ext uri="{FF2B5EF4-FFF2-40B4-BE49-F238E27FC236}">
                <a16:creationId xmlns:a16="http://schemas.microsoft.com/office/drawing/2014/main" id="{1A8A541A-49CC-8355-05A7-4ED9730E7684}"/>
              </a:ext>
            </a:extLst>
          </p:cNvPr>
          <p:cNvSpPr>
            <a:spLocks noGrp="1"/>
          </p:cNvSpPr>
          <p:nvPr>
            <p:ph type="ctrTitle"/>
          </p:nvPr>
        </p:nvSpPr>
        <p:spPr>
          <a:xfrm>
            <a:off x="485775" y="2183642"/>
            <a:ext cx="4416425" cy="2159113"/>
          </a:xfrm>
        </p:spPr>
        <p:txBody>
          <a:bodyPr anchor="t">
            <a:noAutofit/>
          </a:bodyPr>
          <a:lstStyle/>
          <a:p>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Dilakukan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analisa</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dari</a:t>
            </a:r>
            <a:r>
              <a:rPr lang="en-US" sz="1800" b="0" dirty="0">
                <a:latin typeface="Times New Roman" panose="02020603050405020304" pitchFamily="18" charset="0"/>
                <a:cs typeface="Times New Roman" panose="02020603050405020304" pitchFamily="18" charset="0"/>
              </a:rPr>
              <a:t> data </a:t>
            </a:r>
            <a:r>
              <a:rPr lang="en-US" sz="1800" b="0" dirty="0" err="1">
                <a:latin typeface="Times New Roman" panose="02020603050405020304" pitchFamily="18" charset="0"/>
                <a:cs typeface="Times New Roman" panose="02020603050405020304" pitchFamily="18" charset="0"/>
              </a:rPr>
              <a:t>ternyata</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nasabah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lebih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cenderung</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menggunakan</a:t>
            </a:r>
            <a:r>
              <a:rPr lang="en-US" sz="1800" b="0" dirty="0">
                <a:latin typeface="Times New Roman" panose="02020603050405020304" pitchFamily="18" charset="0"/>
                <a:cs typeface="Times New Roman" panose="02020603050405020304" pitchFamily="18" charset="0"/>
              </a:rPr>
              <a:t> tenor </a:t>
            </a:r>
            <a:r>
              <a:rPr lang="en-US" sz="1800" b="0" dirty="0" err="1">
                <a:latin typeface="Times New Roman" panose="02020603050405020304" pitchFamily="18" charset="0"/>
                <a:cs typeface="Times New Roman" panose="02020603050405020304" pitchFamily="18" charset="0"/>
              </a:rPr>
              <a:t>lebih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singkat</a:t>
            </a:r>
            <a:r>
              <a:rPr lang="en-US" sz="1800" b="0" dirty="0">
                <a:latin typeface="Times New Roman" panose="02020603050405020304" pitchFamily="18" charset="0"/>
                <a:cs typeface="Times New Roman" panose="02020603050405020304" pitchFamily="18" charset="0"/>
              </a:rPr>
              <a:t>. Hal </a:t>
            </a:r>
            <a:r>
              <a:rPr lang="en-US" sz="1800" b="0" dirty="0" err="1">
                <a:latin typeface="Times New Roman" panose="02020603050405020304" pitchFamily="18" charset="0"/>
                <a:cs typeface="Times New Roman" panose="02020603050405020304" pitchFamily="18" charset="0"/>
              </a:rPr>
              <a:t>ini</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mungkin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disebabkan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mengambil</a:t>
            </a:r>
            <a:r>
              <a:rPr lang="en-US" sz="1800" b="0" dirty="0">
                <a:latin typeface="Times New Roman" panose="02020603050405020304" pitchFamily="18" charset="0"/>
                <a:cs typeface="Times New Roman" panose="02020603050405020304" pitchFamily="18" charset="0"/>
              </a:rPr>
              <a:t> tenor </a:t>
            </a:r>
            <a:r>
              <a:rPr lang="en-US" sz="1800" b="0" dirty="0" err="1">
                <a:latin typeface="Times New Roman" panose="02020603050405020304" pitchFamily="18" charset="0"/>
                <a:cs typeface="Times New Roman" panose="02020603050405020304" pitchFamily="18" charset="0"/>
              </a:rPr>
              <a:t>singkat</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akan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mempercepat</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pelunasan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hutang</a:t>
            </a:r>
            <a:r>
              <a:rPr lang="en-US" sz="1800" b="0" dirty="0">
                <a:latin typeface="Times New Roman" panose="02020603050405020304" pitchFamily="18" charset="0"/>
                <a:cs typeface="Times New Roman" panose="02020603050405020304" pitchFamily="18" charset="0"/>
              </a:rPr>
              <a:t> yang </a:t>
            </a:r>
            <a:r>
              <a:rPr lang="en-US" sz="1800" b="0" dirty="0" err="1">
                <a:latin typeface="Times New Roman" panose="02020603050405020304" pitchFamily="18" charset="0"/>
                <a:cs typeface="Times New Roman" panose="02020603050405020304" pitchFamily="18" charset="0"/>
              </a:rPr>
              <a:t>dimiliki</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nasabah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tersebut</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Namun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dari</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grafik</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disamping</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tercermin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bahwa</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semakin</a:t>
            </a:r>
            <a:r>
              <a:rPr lang="en-US" sz="1800" b="0" dirty="0">
                <a:latin typeface="Times New Roman" panose="02020603050405020304" pitchFamily="18" charset="0"/>
                <a:cs typeface="Times New Roman" panose="02020603050405020304" pitchFamily="18" charset="0"/>
              </a:rPr>
              <a:t> Panjang tenor yang </a:t>
            </a:r>
            <a:r>
              <a:rPr lang="en-US" sz="1800" b="0" dirty="0" err="1">
                <a:latin typeface="Times New Roman" panose="02020603050405020304" pitchFamily="18" charset="0"/>
                <a:cs typeface="Times New Roman" panose="02020603050405020304" pitchFamily="18" charset="0"/>
              </a:rPr>
              <a:t>diambil</a:t>
            </a:r>
            <a:r>
              <a:rPr lang="en-US" sz="1800" b="0" dirty="0">
                <a:latin typeface="Times New Roman" panose="02020603050405020304" pitchFamily="18" charset="0"/>
                <a:cs typeface="Times New Roman" panose="02020603050405020304" pitchFamily="18" charset="0"/>
              </a:rPr>
              <a:t> oleh </a:t>
            </a:r>
            <a:r>
              <a:rPr lang="en-US" sz="1800" b="0" dirty="0" err="1">
                <a:latin typeface="Times New Roman" panose="02020603050405020304" pitchFamily="18" charset="0"/>
                <a:cs typeface="Times New Roman" panose="02020603050405020304" pitchFamily="18" charset="0"/>
              </a:rPr>
              <a:t>nasabah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akan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semakin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kecil</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potnsi</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untuk</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melakukan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keterlambatan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ini</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mungkin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dikarenakan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jumlah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angsuran</a:t>
            </a:r>
            <a:r>
              <a:rPr lang="en-US" sz="1800" b="0" dirty="0">
                <a:latin typeface="Times New Roman" panose="02020603050405020304" pitchFamily="18" charset="0"/>
                <a:cs typeface="Times New Roman" panose="02020603050405020304" pitchFamily="18" charset="0"/>
              </a:rPr>
              <a:t> dan </a:t>
            </a:r>
            <a:r>
              <a:rPr lang="en-US" sz="1800" b="0" dirty="0" err="1">
                <a:latin typeface="Times New Roman" panose="02020603050405020304" pitchFamily="18" charset="0"/>
                <a:cs typeface="Times New Roman" panose="02020603050405020304" pitchFamily="18" charset="0"/>
              </a:rPr>
              <a:t>bunga</a:t>
            </a:r>
            <a:r>
              <a:rPr lang="en-US" sz="1800" b="0" dirty="0">
                <a:latin typeface="Times New Roman" panose="02020603050405020304" pitchFamily="18" charset="0"/>
                <a:cs typeface="Times New Roman" panose="02020603050405020304" pitchFamily="18" charset="0"/>
              </a:rPr>
              <a:t> yang </a:t>
            </a:r>
            <a:r>
              <a:rPr lang="en-US" sz="1800" b="0" dirty="0" err="1">
                <a:latin typeface="Times New Roman" panose="02020603050405020304" pitchFamily="18" charset="0"/>
                <a:cs typeface="Times New Roman" panose="02020603050405020304" pitchFamily="18" charset="0"/>
              </a:rPr>
              <a:t>dibebankan</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lebih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rendah</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jika</a:t>
            </a:r>
            <a:r>
              <a:rPr lang="en-US" sz="1800" b="0" dirty="0">
                <a:latin typeface="Times New Roman" panose="02020603050405020304" pitchFamily="18" charset="0"/>
                <a:cs typeface="Times New Roman" panose="02020603050405020304" pitchFamily="18" charset="0"/>
              </a:rPr>
              <a:t> </a:t>
            </a:r>
            <a:r>
              <a:rPr lang="en-US" sz="1800" b="0" dirty="0" err="1">
                <a:latin typeface="Times New Roman" panose="02020603050405020304" pitchFamily="18" charset="0"/>
                <a:cs typeface="Times New Roman" panose="02020603050405020304" pitchFamily="18" charset="0"/>
              </a:rPr>
              <a:t>menggunakan</a:t>
            </a:r>
            <a:r>
              <a:rPr lang="en-US" sz="1800" b="0" dirty="0">
                <a:latin typeface="Times New Roman" panose="02020603050405020304" pitchFamily="18" charset="0"/>
                <a:cs typeface="Times New Roman" panose="02020603050405020304" pitchFamily="18" charset="0"/>
              </a:rPr>
              <a:t> tenor yang </a:t>
            </a:r>
            <a:r>
              <a:rPr lang="en-US" sz="1800" b="0" dirty="0" err="1">
                <a:latin typeface="Times New Roman" panose="02020603050405020304" pitchFamily="18" charset="0"/>
                <a:cs typeface="Times New Roman" panose="02020603050405020304" pitchFamily="18" charset="0"/>
              </a:rPr>
              <a:t>lebih</a:t>
            </a:r>
            <a:r>
              <a:rPr lang="en-US" sz="1800" b="0" dirty="0">
                <a:latin typeface="Times New Roman" panose="02020603050405020304" pitchFamily="18" charset="0"/>
                <a:cs typeface="Times New Roman" panose="02020603050405020304" pitchFamily="18" charset="0"/>
              </a:rPr>
              <a:t> Panjang. </a:t>
            </a:r>
          </a:p>
        </p:txBody>
      </p:sp>
    </p:spTree>
    <p:extLst>
      <p:ext uri="{BB962C8B-B14F-4D97-AF65-F5344CB8AC3E}">
        <p14:creationId xmlns:p14="http://schemas.microsoft.com/office/powerpoint/2010/main" val="2992185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0256A01-6987-AD00-DAAA-55369A6499FF}"/>
              </a:ext>
            </a:extLst>
          </p:cNvPr>
          <p:cNvSpPr>
            <a:spLocks noGrp="1"/>
          </p:cNvSpPr>
          <p:nvPr>
            <p:ph type="pic" sz="quarter" idx="10"/>
          </p:nvPr>
        </p:nvSpPr>
        <p:spPr>
          <a:xfrm>
            <a:off x="5581934" y="472281"/>
            <a:ext cx="6610066" cy="5913439"/>
          </a:xfrm>
        </p:spPr>
        <p:txBody>
          <a:bodyPr/>
          <a:lstStyle/>
          <a:p>
            <a:endParaRPr lang="en-ID"/>
          </a:p>
        </p:txBody>
      </p:sp>
      <p:sp>
        <p:nvSpPr>
          <p:cNvPr id="3" name="Title 2">
            <a:extLst>
              <a:ext uri="{FF2B5EF4-FFF2-40B4-BE49-F238E27FC236}">
                <a16:creationId xmlns:a16="http://schemas.microsoft.com/office/drawing/2014/main" id="{B1FEFD70-D440-1B5A-FC0E-05706D339834}"/>
              </a:ext>
            </a:extLst>
          </p:cNvPr>
          <p:cNvSpPr>
            <a:spLocks noGrp="1"/>
          </p:cNvSpPr>
          <p:nvPr>
            <p:ph type="ctrTitle"/>
          </p:nvPr>
        </p:nvSpPr>
        <p:spPr>
          <a:xfrm>
            <a:off x="371476" y="1398895"/>
            <a:ext cx="4645024" cy="619054"/>
          </a:xfrm>
        </p:spPr>
        <p:txBody>
          <a:bodyPr>
            <a:noAutofit/>
          </a:bodyPr>
          <a:lstStyle/>
          <a:p>
            <a:pPr algn="ctr"/>
            <a:r>
              <a:rPr lang="en-GB" sz="2000" dirty="0">
                <a:latin typeface="Times New Roman" panose="02020603050405020304" pitchFamily="18" charset="0"/>
                <a:cs typeface="Times New Roman" panose="02020603050405020304" pitchFamily="18" charset="0"/>
              </a:rPr>
              <a:t>“</a:t>
            </a:r>
            <a:r>
              <a:rPr lang="en-GB" sz="2000" dirty="0" err="1">
                <a:latin typeface="Times New Roman" panose="02020603050405020304" pitchFamily="18" charset="0"/>
                <a:cs typeface="Times New Roman" panose="02020603050405020304" pitchFamily="18" charset="0"/>
              </a:rPr>
              <a:t>Resiko</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Tertinggi</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berdasarkan</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Tujuan</a:t>
            </a:r>
            <a:r>
              <a:rPr lang="en-GB" sz="2000" dirty="0">
                <a:latin typeface="Times New Roman" panose="02020603050405020304" pitchFamily="18" charset="0"/>
                <a:cs typeface="Times New Roman" panose="02020603050405020304" pitchFamily="18" charset="0"/>
              </a:rPr>
              <a:t> pinjaman” </a:t>
            </a:r>
            <a:endParaRPr lang="en-ID" sz="2000"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432573EC-A234-B331-6630-6320911CA714}"/>
              </a:ext>
            </a:extLst>
          </p:cNvPr>
          <p:cNvSpPr>
            <a:spLocks noGrp="1"/>
          </p:cNvSpPr>
          <p:nvPr>
            <p:ph type="subTitle" idx="1"/>
          </p:nvPr>
        </p:nvSpPr>
        <p:spPr>
          <a:xfrm>
            <a:off x="371476" y="2304890"/>
            <a:ext cx="4645023" cy="3154215"/>
          </a:xfrm>
        </p:spPr>
        <p:txBody>
          <a:bodyPr>
            <a:normAutofit/>
          </a:bodyPr>
          <a:lstStyle/>
          <a:p>
            <a:r>
              <a:rPr lang="en-GB" sz="1800" dirty="0"/>
              <a:t>Pada histogram </a:t>
            </a:r>
            <a:r>
              <a:rPr lang="en-GB" sz="1800" dirty="0" err="1"/>
              <a:t>disamping</a:t>
            </a:r>
            <a:r>
              <a:rPr lang="en-GB" sz="1800" dirty="0"/>
              <a:t> </a:t>
            </a:r>
            <a:r>
              <a:rPr lang="en-GB" sz="1800" dirty="0" err="1"/>
              <a:t>terlihat</a:t>
            </a:r>
            <a:r>
              <a:rPr lang="en-GB" sz="1800" dirty="0"/>
              <a:t> </a:t>
            </a:r>
            <a:r>
              <a:rPr lang="en-GB" sz="1800" dirty="0" err="1"/>
              <a:t>bahwa</a:t>
            </a:r>
            <a:r>
              <a:rPr lang="en-GB" sz="1800" dirty="0"/>
              <a:t> rata – rata </a:t>
            </a:r>
            <a:r>
              <a:rPr lang="en-GB" sz="1800" dirty="0" err="1"/>
              <a:t>nasabah</a:t>
            </a:r>
            <a:r>
              <a:rPr lang="en-GB" sz="1800" dirty="0"/>
              <a:t> yang </a:t>
            </a:r>
            <a:r>
              <a:rPr lang="en-GB" sz="1800" dirty="0" err="1"/>
              <a:t>mempunyai</a:t>
            </a:r>
            <a:r>
              <a:rPr lang="en-GB" sz="1800" dirty="0"/>
              <a:t> </a:t>
            </a:r>
            <a:r>
              <a:rPr lang="en-GB" sz="1800" dirty="0" err="1"/>
              <a:t>tujuan</a:t>
            </a:r>
            <a:r>
              <a:rPr lang="en-GB" sz="1800" dirty="0"/>
              <a:t> pinjaman untuk </a:t>
            </a:r>
            <a:r>
              <a:rPr lang="en-GB" sz="1800" dirty="0" err="1"/>
              <a:t>memulai</a:t>
            </a:r>
            <a:r>
              <a:rPr lang="en-GB" sz="1800" dirty="0"/>
              <a:t> bisnis </a:t>
            </a:r>
            <a:r>
              <a:rPr lang="en-GB" sz="1800" dirty="0" err="1"/>
              <a:t>cederung</a:t>
            </a:r>
            <a:r>
              <a:rPr lang="en-GB" sz="1800" dirty="0"/>
              <a:t> </a:t>
            </a:r>
            <a:r>
              <a:rPr lang="en-GB" sz="1800" dirty="0" err="1"/>
              <a:t>memiliki</a:t>
            </a:r>
            <a:r>
              <a:rPr lang="en-GB" sz="1800" dirty="0"/>
              <a:t> </a:t>
            </a:r>
            <a:r>
              <a:rPr lang="en-GB" sz="1800" dirty="0" err="1"/>
              <a:t>resiko</a:t>
            </a:r>
            <a:r>
              <a:rPr lang="en-GB" sz="1800" dirty="0"/>
              <a:t> </a:t>
            </a:r>
            <a:r>
              <a:rPr lang="en-GB" sz="1800" dirty="0" err="1"/>
              <a:t>tinggi</a:t>
            </a:r>
            <a:r>
              <a:rPr lang="en-GB" sz="1800" dirty="0"/>
              <a:t> untuk default. Hal ini </a:t>
            </a:r>
            <a:r>
              <a:rPr lang="en-GB" sz="1800" dirty="0" err="1"/>
              <a:t>terjadi</a:t>
            </a:r>
            <a:r>
              <a:rPr lang="en-GB" sz="1800" dirty="0"/>
              <a:t> </a:t>
            </a:r>
            <a:r>
              <a:rPr lang="en-GB" sz="1800" dirty="0" err="1"/>
              <a:t>karena</a:t>
            </a:r>
            <a:r>
              <a:rPr lang="en-GB" sz="1800" dirty="0"/>
              <a:t> untuk </a:t>
            </a:r>
            <a:r>
              <a:rPr lang="en-GB" sz="1800" dirty="0" err="1"/>
              <a:t>besnis</a:t>
            </a:r>
            <a:r>
              <a:rPr lang="en-GB" sz="1800" dirty="0"/>
              <a:t> </a:t>
            </a:r>
            <a:r>
              <a:rPr lang="en-GB" sz="1800" dirty="0" err="1"/>
              <a:t>pemula</a:t>
            </a:r>
            <a:r>
              <a:rPr lang="en-GB" sz="1800" dirty="0"/>
              <a:t> </a:t>
            </a:r>
            <a:r>
              <a:rPr lang="en-GB" sz="1800" dirty="0" err="1"/>
              <a:t>harus</a:t>
            </a:r>
            <a:r>
              <a:rPr lang="en-GB" sz="1800" dirty="0"/>
              <a:t> bisa </a:t>
            </a:r>
            <a:r>
              <a:rPr lang="en-GB" sz="1800" dirty="0" err="1"/>
              <a:t>memiliki</a:t>
            </a:r>
            <a:r>
              <a:rPr lang="en-GB" sz="1800" dirty="0"/>
              <a:t> </a:t>
            </a:r>
            <a:r>
              <a:rPr lang="en-GB" sz="1800" dirty="0" err="1"/>
              <a:t>pondasi</a:t>
            </a:r>
            <a:r>
              <a:rPr lang="en-GB" sz="1800" dirty="0"/>
              <a:t> yang </a:t>
            </a:r>
            <a:r>
              <a:rPr lang="en-GB" sz="1800" dirty="0" err="1"/>
              <a:t>kuat</a:t>
            </a:r>
            <a:r>
              <a:rPr lang="en-GB" sz="1800" dirty="0"/>
              <a:t> untuk bisa </a:t>
            </a:r>
            <a:r>
              <a:rPr lang="en-GB" sz="1800" dirty="0" err="1"/>
              <a:t>bersaing</a:t>
            </a:r>
            <a:r>
              <a:rPr lang="en-GB" sz="1800" dirty="0"/>
              <a:t> </a:t>
            </a:r>
            <a:r>
              <a:rPr lang="en-GB" sz="1800" dirty="0" err="1"/>
              <a:t>dipasar</a:t>
            </a:r>
            <a:r>
              <a:rPr lang="en-GB" sz="1800" dirty="0"/>
              <a:t> </a:t>
            </a:r>
            <a:r>
              <a:rPr lang="en-GB" sz="1800" dirty="0" err="1"/>
              <a:t>menghadapi</a:t>
            </a:r>
            <a:r>
              <a:rPr lang="en-GB" sz="1800" dirty="0"/>
              <a:t> pada competitor yang </a:t>
            </a:r>
            <a:r>
              <a:rPr lang="en-GB" sz="1800" dirty="0" err="1"/>
              <a:t>ada</a:t>
            </a:r>
            <a:r>
              <a:rPr lang="en-GB" sz="1800" dirty="0"/>
              <a:t>. Selain itu perlu </a:t>
            </a:r>
            <a:r>
              <a:rPr lang="en-GB" sz="1800" dirty="0" err="1"/>
              <a:t>manajemen</a:t>
            </a:r>
            <a:r>
              <a:rPr lang="en-GB" sz="1800" dirty="0"/>
              <a:t> </a:t>
            </a:r>
            <a:r>
              <a:rPr lang="en-GB" sz="1800" dirty="0" err="1"/>
              <a:t>keuangan</a:t>
            </a:r>
            <a:r>
              <a:rPr lang="en-GB" sz="1800" dirty="0"/>
              <a:t> yang baik dan </a:t>
            </a:r>
            <a:r>
              <a:rPr lang="en-GB" sz="1800" dirty="0" err="1"/>
              <a:t>sumbr</a:t>
            </a:r>
            <a:r>
              <a:rPr lang="en-GB" sz="1800" dirty="0"/>
              <a:t> </a:t>
            </a:r>
            <a:r>
              <a:rPr lang="en-GB" sz="1800" dirty="0" err="1"/>
              <a:t>pendanaan</a:t>
            </a:r>
            <a:r>
              <a:rPr lang="en-GB" sz="1800" dirty="0"/>
              <a:t> yang baik untuk bisa tetap survive dalam pasar.  </a:t>
            </a:r>
            <a:endParaRPr lang="en-ID" sz="1800" dirty="0"/>
          </a:p>
        </p:txBody>
      </p:sp>
      <p:pic>
        <p:nvPicPr>
          <p:cNvPr id="5" name="Picture 4">
            <a:extLst>
              <a:ext uri="{FF2B5EF4-FFF2-40B4-BE49-F238E27FC236}">
                <a16:creationId xmlns:a16="http://schemas.microsoft.com/office/drawing/2014/main" id="{C5B967E5-46C3-1E3B-B290-EF2F01B291C2}"/>
              </a:ext>
            </a:extLst>
          </p:cNvPr>
          <p:cNvPicPr>
            <a:picLocks noChangeAspect="1"/>
          </p:cNvPicPr>
          <p:nvPr/>
        </p:nvPicPr>
        <p:blipFill>
          <a:blip r:embed="rId2"/>
          <a:stretch>
            <a:fillRect/>
          </a:stretch>
        </p:blipFill>
        <p:spPr>
          <a:xfrm>
            <a:off x="5581934" y="472280"/>
            <a:ext cx="6610066" cy="5913439"/>
          </a:xfrm>
          <a:prstGeom prst="rect">
            <a:avLst/>
          </a:prstGeom>
        </p:spPr>
      </p:pic>
    </p:spTree>
    <p:extLst>
      <p:ext uri="{BB962C8B-B14F-4D97-AF65-F5344CB8AC3E}">
        <p14:creationId xmlns:p14="http://schemas.microsoft.com/office/powerpoint/2010/main" val="145080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333D-A740-2504-C605-86DAB07F54BE}"/>
              </a:ext>
            </a:extLst>
          </p:cNvPr>
          <p:cNvSpPr>
            <a:spLocks noGrp="1"/>
          </p:cNvSpPr>
          <p:nvPr>
            <p:ph type="title"/>
          </p:nvPr>
        </p:nvSpPr>
        <p:spPr/>
        <p:txBody>
          <a:bodyPr/>
          <a:lstStyle/>
          <a:p>
            <a:pPr algn="ctr"/>
            <a:r>
              <a:rPr lang="en-GB" dirty="0" err="1"/>
              <a:t>Perbandingan</a:t>
            </a:r>
            <a:r>
              <a:rPr lang="en-GB" dirty="0"/>
              <a:t> Annual Income &amp; </a:t>
            </a:r>
            <a:r>
              <a:rPr lang="en-GB" dirty="0" err="1"/>
              <a:t>Delinq</a:t>
            </a:r>
            <a:r>
              <a:rPr lang="en-GB" dirty="0"/>
              <a:t> 2 Years</a:t>
            </a:r>
            <a:endParaRPr lang="en-ID" dirty="0"/>
          </a:p>
        </p:txBody>
      </p:sp>
      <p:sp>
        <p:nvSpPr>
          <p:cNvPr id="3" name="Content Placeholder 2">
            <a:extLst>
              <a:ext uri="{FF2B5EF4-FFF2-40B4-BE49-F238E27FC236}">
                <a16:creationId xmlns:a16="http://schemas.microsoft.com/office/drawing/2014/main" id="{E78E6A1E-4847-D30D-4ED6-789DA9DADD20}"/>
              </a:ext>
            </a:extLst>
          </p:cNvPr>
          <p:cNvSpPr>
            <a:spLocks noGrp="1"/>
          </p:cNvSpPr>
          <p:nvPr>
            <p:ph sz="half" idx="2"/>
          </p:nvPr>
        </p:nvSpPr>
        <p:spPr/>
        <p:txBody>
          <a:bodyPr/>
          <a:lstStyle/>
          <a:p>
            <a:r>
              <a:rPr lang="en-GB" dirty="0"/>
              <a:t>Dari grafik </a:t>
            </a:r>
            <a:r>
              <a:rPr lang="en-GB" dirty="0" err="1"/>
              <a:t>disamping</a:t>
            </a:r>
            <a:r>
              <a:rPr lang="en-GB" dirty="0"/>
              <a:t> di dapat </a:t>
            </a:r>
            <a:r>
              <a:rPr lang="en-GB" dirty="0" err="1"/>
              <a:t>bahwan</a:t>
            </a:r>
            <a:r>
              <a:rPr lang="en-GB" dirty="0"/>
              <a:t> </a:t>
            </a:r>
            <a:r>
              <a:rPr lang="en-GB" dirty="0" err="1"/>
              <a:t>nilai</a:t>
            </a:r>
            <a:r>
              <a:rPr lang="en-GB" dirty="0"/>
              <a:t> </a:t>
            </a:r>
            <a:r>
              <a:rPr lang="en-GB" dirty="0" err="1"/>
              <a:t>pendapatan</a:t>
            </a:r>
            <a:r>
              <a:rPr lang="en-GB" dirty="0"/>
              <a:t> </a:t>
            </a:r>
            <a:r>
              <a:rPr lang="en-GB" dirty="0" err="1"/>
              <a:t>tahunan</a:t>
            </a:r>
            <a:r>
              <a:rPr lang="en-GB" dirty="0"/>
              <a:t> </a:t>
            </a:r>
            <a:r>
              <a:rPr lang="en-GB" dirty="0" err="1"/>
              <a:t>tertinggi</a:t>
            </a:r>
            <a:r>
              <a:rPr lang="en-GB" dirty="0"/>
              <a:t> </a:t>
            </a:r>
            <a:r>
              <a:rPr lang="en-GB" dirty="0" err="1"/>
              <a:t>ada</a:t>
            </a:r>
            <a:r>
              <a:rPr lang="en-GB" dirty="0"/>
              <a:t> pada negara bagian Amerika DC (District of Columbia) </a:t>
            </a:r>
            <a:r>
              <a:rPr lang="en-GB" dirty="0" err="1"/>
              <a:t>sebesar</a:t>
            </a:r>
            <a:r>
              <a:rPr lang="en-GB" dirty="0"/>
              <a:t> 86406 dan </a:t>
            </a:r>
            <a:r>
              <a:rPr lang="en-GB" dirty="0" err="1"/>
              <a:t>pendapatan</a:t>
            </a:r>
            <a:r>
              <a:rPr lang="en-GB" dirty="0"/>
              <a:t> </a:t>
            </a:r>
            <a:r>
              <a:rPr lang="en-GB" dirty="0" err="1"/>
              <a:t>tahunan</a:t>
            </a:r>
            <a:r>
              <a:rPr lang="en-GB" dirty="0"/>
              <a:t> </a:t>
            </a:r>
            <a:r>
              <a:rPr lang="en-GB" dirty="0" err="1"/>
              <a:t>terendah</a:t>
            </a:r>
            <a:r>
              <a:rPr lang="en-GB" dirty="0"/>
              <a:t> </a:t>
            </a:r>
            <a:r>
              <a:rPr lang="en-GB" dirty="0" err="1"/>
              <a:t>ada</a:t>
            </a:r>
            <a:r>
              <a:rPr lang="en-GB" dirty="0"/>
              <a:t> pada negara bagian Amerika ME (Maina) </a:t>
            </a:r>
            <a:r>
              <a:rPr lang="en-GB" dirty="0" err="1"/>
              <a:t>sebesar</a:t>
            </a:r>
            <a:r>
              <a:rPr lang="en-GB" dirty="0"/>
              <a:t> 34150. Secara </a:t>
            </a:r>
            <a:r>
              <a:rPr lang="en-GB" dirty="0" err="1"/>
              <a:t>keseluruhan</a:t>
            </a:r>
            <a:r>
              <a:rPr lang="en-GB" dirty="0"/>
              <a:t> </a:t>
            </a:r>
            <a:r>
              <a:rPr lang="en-GB" dirty="0" err="1"/>
              <a:t>pendapatan</a:t>
            </a:r>
            <a:r>
              <a:rPr lang="en-GB" dirty="0"/>
              <a:t> </a:t>
            </a:r>
            <a:r>
              <a:rPr lang="en-GB" dirty="0" err="1"/>
              <a:t>tahunan</a:t>
            </a:r>
            <a:r>
              <a:rPr lang="en-GB" dirty="0"/>
              <a:t> pada semua negara bagian </a:t>
            </a:r>
            <a:r>
              <a:rPr lang="en-GB" dirty="0" err="1"/>
              <a:t>berada</a:t>
            </a:r>
            <a:r>
              <a:rPr lang="en-GB" dirty="0"/>
              <a:t> pada range 60,000 sampai 80,000</a:t>
            </a:r>
            <a:endParaRPr lang="en-ID" dirty="0"/>
          </a:p>
        </p:txBody>
      </p:sp>
      <p:sp>
        <p:nvSpPr>
          <p:cNvPr id="4" name="Slide Number Placeholder 3">
            <a:extLst>
              <a:ext uri="{FF2B5EF4-FFF2-40B4-BE49-F238E27FC236}">
                <a16:creationId xmlns:a16="http://schemas.microsoft.com/office/drawing/2014/main" id="{B6A5B684-1DA1-0127-C198-210C4BEAB5B0}"/>
              </a:ext>
            </a:extLst>
          </p:cNvPr>
          <p:cNvSpPr>
            <a:spLocks noGrp="1"/>
          </p:cNvSpPr>
          <p:nvPr>
            <p:ph type="sldNum" sz="quarter" idx="12"/>
          </p:nvPr>
        </p:nvSpPr>
        <p:spPr/>
        <p:txBody>
          <a:bodyPr/>
          <a:lstStyle/>
          <a:p>
            <a:fld id="{03DC2DEF-D2FE-4B45-ABA4-9F153FD1C98A}" type="slidenum">
              <a:rPr lang="en-US" smtClean="0"/>
              <a:t>6</a:t>
            </a:fld>
            <a:endParaRPr lang="en-US" dirty="0"/>
          </a:p>
        </p:txBody>
      </p:sp>
      <p:sp>
        <p:nvSpPr>
          <p:cNvPr id="5" name="Picture Placeholder 4">
            <a:extLst>
              <a:ext uri="{FF2B5EF4-FFF2-40B4-BE49-F238E27FC236}">
                <a16:creationId xmlns:a16="http://schemas.microsoft.com/office/drawing/2014/main" id="{F50A1C21-BA02-5D5D-6C81-BBF24B64E740}"/>
              </a:ext>
            </a:extLst>
          </p:cNvPr>
          <p:cNvSpPr>
            <a:spLocks noGrp="1"/>
          </p:cNvSpPr>
          <p:nvPr>
            <p:ph type="pic" sz="quarter" idx="13"/>
          </p:nvPr>
        </p:nvSpPr>
        <p:spPr/>
        <p:txBody>
          <a:bodyPr/>
          <a:lstStyle/>
          <a:p>
            <a:endParaRPr lang="en-ID"/>
          </a:p>
        </p:txBody>
      </p:sp>
      <p:sp>
        <p:nvSpPr>
          <p:cNvPr id="6" name="Picture Placeholder 5">
            <a:extLst>
              <a:ext uri="{FF2B5EF4-FFF2-40B4-BE49-F238E27FC236}">
                <a16:creationId xmlns:a16="http://schemas.microsoft.com/office/drawing/2014/main" id="{7698AC41-2878-70F6-15DB-9E1D61C3D302}"/>
              </a:ext>
            </a:extLst>
          </p:cNvPr>
          <p:cNvSpPr>
            <a:spLocks noGrp="1"/>
          </p:cNvSpPr>
          <p:nvPr>
            <p:ph type="pic" sz="quarter" idx="14"/>
          </p:nvPr>
        </p:nvSpPr>
        <p:spPr/>
        <p:txBody>
          <a:bodyPr/>
          <a:lstStyle/>
          <a:p>
            <a:endParaRPr lang="en-ID"/>
          </a:p>
        </p:txBody>
      </p:sp>
      <p:sp>
        <p:nvSpPr>
          <p:cNvPr id="7" name="Content Placeholder 6">
            <a:extLst>
              <a:ext uri="{FF2B5EF4-FFF2-40B4-BE49-F238E27FC236}">
                <a16:creationId xmlns:a16="http://schemas.microsoft.com/office/drawing/2014/main" id="{06D0EFB7-8EA7-7BEB-19F6-63B7DFBF8A0C}"/>
              </a:ext>
            </a:extLst>
          </p:cNvPr>
          <p:cNvSpPr>
            <a:spLocks noGrp="1"/>
          </p:cNvSpPr>
          <p:nvPr>
            <p:ph sz="half" idx="1"/>
          </p:nvPr>
        </p:nvSpPr>
        <p:spPr/>
        <p:txBody>
          <a:bodyPr/>
          <a:lstStyle/>
          <a:p>
            <a:r>
              <a:rPr lang="en-GB" dirty="0"/>
              <a:t>Jika </a:t>
            </a:r>
            <a:r>
              <a:rPr lang="en-GB" dirty="0" err="1"/>
              <a:t>dilihat</a:t>
            </a:r>
            <a:r>
              <a:rPr lang="en-GB" dirty="0"/>
              <a:t> </a:t>
            </a:r>
            <a:r>
              <a:rPr lang="en-GB" dirty="0" err="1"/>
              <a:t>dari</a:t>
            </a:r>
            <a:r>
              <a:rPr lang="en-GB" dirty="0"/>
              <a:t> total </a:t>
            </a:r>
            <a:r>
              <a:rPr lang="en-GB" dirty="0" err="1"/>
              <a:t>kenakalan</a:t>
            </a:r>
            <a:r>
              <a:rPr lang="en-GB" dirty="0"/>
              <a:t> 2 tahun </a:t>
            </a:r>
            <a:r>
              <a:rPr lang="en-GB" dirty="0" err="1"/>
              <a:t>terakhir</a:t>
            </a:r>
            <a:r>
              <a:rPr lang="en-GB" dirty="0"/>
              <a:t> </a:t>
            </a:r>
            <a:r>
              <a:rPr lang="en-GB" dirty="0" err="1"/>
              <a:t>didapat</a:t>
            </a:r>
            <a:r>
              <a:rPr lang="en-GB" dirty="0"/>
              <a:t> </a:t>
            </a:r>
            <a:r>
              <a:rPr lang="en-GB" dirty="0" err="1"/>
              <a:t>bahwa</a:t>
            </a:r>
            <a:r>
              <a:rPr lang="en-GB" dirty="0"/>
              <a:t> negara Amerika bagian Timur </a:t>
            </a:r>
            <a:r>
              <a:rPr lang="en-GB" dirty="0" err="1"/>
              <a:t>memiliki</a:t>
            </a:r>
            <a:r>
              <a:rPr lang="en-GB" dirty="0"/>
              <a:t> </a:t>
            </a:r>
            <a:r>
              <a:rPr lang="en-GB" dirty="0" err="1"/>
              <a:t>nilai</a:t>
            </a:r>
            <a:r>
              <a:rPr lang="en-GB" dirty="0"/>
              <a:t> </a:t>
            </a:r>
            <a:r>
              <a:rPr lang="en-GB" dirty="0" err="1"/>
              <a:t>kenakalan</a:t>
            </a:r>
            <a:r>
              <a:rPr lang="en-GB" dirty="0"/>
              <a:t> paling </a:t>
            </a:r>
            <a:r>
              <a:rPr lang="en-GB" dirty="0" err="1"/>
              <a:t>banyak</a:t>
            </a:r>
            <a:r>
              <a:rPr lang="en-GB" dirty="0"/>
              <a:t> </a:t>
            </a:r>
            <a:r>
              <a:rPr lang="en-GB" dirty="0" err="1"/>
              <a:t>terutama</a:t>
            </a:r>
            <a:r>
              <a:rPr lang="en-GB" dirty="0"/>
              <a:t> pada CA (Canada) </a:t>
            </a:r>
            <a:r>
              <a:rPr lang="en-GB" dirty="0" err="1"/>
              <a:t>sebesar</a:t>
            </a:r>
            <a:r>
              <a:rPr lang="en-GB" dirty="0"/>
              <a:t> 18985.</a:t>
            </a:r>
            <a:endParaRPr lang="en-ID" dirty="0"/>
          </a:p>
        </p:txBody>
      </p:sp>
      <p:pic>
        <p:nvPicPr>
          <p:cNvPr id="9" name="Picture 8">
            <a:extLst>
              <a:ext uri="{FF2B5EF4-FFF2-40B4-BE49-F238E27FC236}">
                <a16:creationId xmlns:a16="http://schemas.microsoft.com/office/drawing/2014/main" id="{CFAB0FD3-F3BB-005E-F8CE-A82B836D1E95}"/>
              </a:ext>
            </a:extLst>
          </p:cNvPr>
          <p:cNvPicPr>
            <a:picLocks noChangeAspect="1"/>
          </p:cNvPicPr>
          <p:nvPr/>
        </p:nvPicPr>
        <p:blipFill>
          <a:blip r:embed="rId2"/>
          <a:stretch>
            <a:fillRect/>
          </a:stretch>
        </p:blipFill>
        <p:spPr>
          <a:xfrm>
            <a:off x="6720361" y="3967163"/>
            <a:ext cx="4580577" cy="2458943"/>
          </a:xfrm>
          <a:prstGeom prst="rect">
            <a:avLst/>
          </a:prstGeom>
        </p:spPr>
      </p:pic>
      <p:pic>
        <p:nvPicPr>
          <p:cNvPr id="10" name="Picture 9">
            <a:extLst>
              <a:ext uri="{FF2B5EF4-FFF2-40B4-BE49-F238E27FC236}">
                <a16:creationId xmlns:a16="http://schemas.microsoft.com/office/drawing/2014/main" id="{316902D7-E5BE-DC8F-DEDE-7421943E3596}"/>
              </a:ext>
            </a:extLst>
          </p:cNvPr>
          <p:cNvPicPr>
            <a:picLocks noChangeAspect="1"/>
          </p:cNvPicPr>
          <p:nvPr/>
        </p:nvPicPr>
        <p:blipFill>
          <a:blip r:embed="rId3"/>
          <a:stretch>
            <a:fillRect/>
          </a:stretch>
        </p:blipFill>
        <p:spPr>
          <a:xfrm>
            <a:off x="338137" y="1233488"/>
            <a:ext cx="5757863" cy="2425110"/>
          </a:xfrm>
          <a:prstGeom prst="rect">
            <a:avLst/>
          </a:prstGeom>
        </p:spPr>
      </p:pic>
    </p:spTree>
    <p:extLst>
      <p:ext uri="{BB962C8B-B14F-4D97-AF65-F5344CB8AC3E}">
        <p14:creationId xmlns:p14="http://schemas.microsoft.com/office/powerpoint/2010/main" val="2766226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5C11F-71F2-1EF8-BFEB-666B2754D0D7}"/>
              </a:ext>
            </a:extLst>
          </p:cNvPr>
          <p:cNvSpPr>
            <a:spLocks noGrp="1"/>
          </p:cNvSpPr>
          <p:nvPr>
            <p:ph type="title"/>
          </p:nvPr>
        </p:nvSpPr>
        <p:spPr/>
        <p:txBody>
          <a:bodyPr/>
          <a:lstStyle/>
          <a:p>
            <a:r>
              <a:rPr lang="en-GB" dirty="0"/>
              <a:t>Total </a:t>
            </a:r>
            <a:r>
              <a:rPr lang="en-GB" dirty="0" err="1"/>
              <a:t>Verifikasi</a:t>
            </a:r>
            <a:r>
              <a:rPr lang="en-GB" dirty="0"/>
              <a:t> </a:t>
            </a:r>
            <a:r>
              <a:rPr lang="en-GB" dirty="0" err="1"/>
              <a:t>berdasarkan</a:t>
            </a:r>
            <a:r>
              <a:rPr lang="en-GB" dirty="0"/>
              <a:t> </a:t>
            </a:r>
            <a:r>
              <a:rPr lang="en-GB" dirty="0" err="1"/>
              <a:t>Durasi</a:t>
            </a:r>
            <a:r>
              <a:rPr lang="en-GB" dirty="0"/>
              <a:t> kerja </a:t>
            </a:r>
            <a:endParaRPr lang="en-ID" dirty="0"/>
          </a:p>
        </p:txBody>
      </p:sp>
      <p:sp>
        <p:nvSpPr>
          <p:cNvPr id="3" name="Content Placeholder 2">
            <a:extLst>
              <a:ext uri="{FF2B5EF4-FFF2-40B4-BE49-F238E27FC236}">
                <a16:creationId xmlns:a16="http://schemas.microsoft.com/office/drawing/2014/main" id="{EA15499D-1125-10AA-1ACF-EDEA92151D51}"/>
              </a:ext>
            </a:extLst>
          </p:cNvPr>
          <p:cNvSpPr>
            <a:spLocks noGrp="1"/>
          </p:cNvSpPr>
          <p:nvPr>
            <p:ph idx="1"/>
          </p:nvPr>
        </p:nvSpPr>
        <p:spPr/>
        <p:txBody>
          <a:bodyPr>
            <a:normAutofit/>
          </a:bodyPr>
          <a:lstStyle/>
          <a:p>
            <a:pPr marL="0" indent="0">
              <a:buNone/>
            </a:pPr>
            <a:r>
              <a:rPr lang="en-ID" sz="1800" dirty="0">
                <a:solidFill>
                  <a:srgbClr val="D1D5DB"/>
                </a:solidFill>
                <a:latin typeface="Söhne"/>
              </a:rPr>
              <a:t>	</a:t>
            </a:r>
          </a:p>
          <a:p>
            <a:pPr marL="0" indent="0">
              <a:buNone/>
            </a:pPr>
            <a:endParaRPr lang="en-ID" sz="1800" dirty="0">
              <a:solidFill>
                <a:srgbClr val="D1D5DB"/>
              </a:solidFill>
              <a:latin typeface="Söhne"/>
            </a:endParaRPr>
          </a:p>
          <a:p>
            <a:pPr marL="0" indent="0">
              <a:buNone/>
            </a:pPr>
            <a:endParaRPr lang="en-ID" sz="1800" dirty="0">
              <a:solidFill>
                <a:srgbClr val="D1D5DB"/>
              </a:solidFill>
              <a:latin typeface="Söhne"/>
            </a:endParaRPr>
          </a:p>
          <a:p>
            <a:pPr marL="0" indent="0">
              <a:buNone/>
            </a:pPr>
            <a:r>
              <a:rPr lang="en-ID" sz="1800" dirty="0">
                <a:solidFill>
                  <a:srgbClr val="D1D5DB"/>
                </a:solidFill>
                <a:latin typeface="Söhne"/>
              </a:rPr>
              <a:t>	Dari Analisa </a:t>
            </a:r>
            <a:r>
              <a:rPr lang="en-ID" sz="1800" dirty="0" err="1">
                <a:solidFill>
                  <a:srgbClr val="D1D5DB"/>
                </a:solidFill>
                <a:latin typeface="Söhne"/>
              </a:rPr>
              <a:t>didapat</a:t>
            </a:r>
            <a:r>
              <a:rPr lang="en-ID" sz="1800" dirty="0">
                <a:solidFill>
                  <a:srgbClr val="D1D5DB"/>
                </a:solidFill>
                <a:latin typeface="Söhne"/>
              </a:rPr>
              <a:t> </a:t>
            </a:r>
            <a:r>
              <a:rPr lang="en-ID" sz="1800" dirty="0" err="1">
                <a:solidFill>
                  <a:srgbClr val="D1D5DB"/>
                </a:solidFill>
                <a:latin typeface="Söhne"/>
              </a:rPr>
              <a:t>durasi</a:t>
            </a:r>
            <a:r>
              <a:rPr lang="en-ID" sz="1800" dirty="0">
                <a:solidFill>
                  <a:srgbClr val="D1D5DB"/>
                </a:solidFill>
                <a:latin typeface="Söhne"/>
              </a:rPr>
              <a:t> </a:t>
            </a:r>
            <a:r>
              <a:rPr lang="en-ID" sz="1800" dirty="0" err="1">
                <a:solidFill>
                  <a:srgbClr val="D1D5DB"/>
                </a:solidFill>
                <a:latin typeface="Söhne"/>
              </a:rPr>
              <a:t>kerja</a:t>
            </a:r>
            <a:r>
              <a:rPr lang="en-ID" sz="1800" dirty="0">
                <a:solidFill>
                  <a:srgbClr val="D1D5DB"/>
                </a:solidFill>
                <a:latin typeface="Söhne"/>
              </a:rPr>
              <a:t> </a:t>
            </a:r>
            <a:r>
              <a:rPr lang="en-ID" sz="1800" dirty="0" err="1">
                <a:solidFill>
                  <a:srgbClr val="D1D5DB"/>
                </a:solidFill>
                <a:latin typeface="Söhne"/>
              </a:rPr>
              <a:t>dari</a:t>
            </a:r>
            <a:r>
              <a:rPr lang="en-ID" sz="1800" dirty="0">
                <a:solidFill>
                  <a:srgbClr val="D1D5DB"/>
                </a:solidFill>
                <a:latin typeface="Söhne"/>
              </a:rPr>
              <a:t> &lt;1 </a:t>
            </a:r>
            <a:r>
              <a:rPr lang="en-ID" sz="1800" dirty="0" err="1">
                <a:solidFill>
                  <a:srgbClr val="D1D5DB"/>
                </a:solidFill>
                <a:latin typeface="Söhne"/>
              </a:rPr>
              <a:t>tahun</a:t>
            </a:r>
            <a:r>
              <a:rPr lang="en-ID" sz="1800" dirty="0">
                <a:solidFill>
                  <a:srgbClr val="D1D5DB"/>
                </a:solidFill>
                <a:latin typeface="Söhne"/>
              </a:rPr>
              <a:t> </a:t>
            </a:r>
            <a:r>
              <a:rPr lang="en-ID" sz="1800" dirty="0" err="1">
                <a:solidFill>
                  <a:srgbClr val="D1D5DB"/>
                </a:solidFill>
                <a:latin typeface="Söhne"/>
              </a:rPr>
              <a:t>sampai</a:t>
            </a:r>
            <a:r>
              <a:rPr lang="en-ID" sz="1800" dirty="0">
                <a:solidFill>
                  <a:srgbClr val="D1D5DB"/>
                </a:solidFill>
                <a:latin typeface="Söhne"/>
              </a:rPr>
              <a:t> 8 </a:t>
            </a:r>
            <a:r>
              <a:rPr lang="en-ID" sz="1800" dirty="0" err="1">
                <a:solidFill>
                  <a:srgbClr val="D1D5DB"/>
                </a:solidFill>
                <a:latin typeface="Söhne"/>
              </a:rPr>
              <a:t>tahun</a:t>
            </a:r>
            <a:r>
              <a:rPr lang="en-ID" sz="1800" dirty="0">
                <a:solidFill>
                  <a:srgbClr val="D1D5DB"/>
                </a:solidFill>
                <a:latin typeface="Söhne"/>
              </a:rPr>
              <a:t> </a:t>
            </a:r>
            <a:r>
              <a:rPr lang="en-ID" sz="1800" dirty="0" err="1">
                <a:solidFill>
                  <a:srgbClr val="D1D5DB"/>
                </a:solidFill>
                <a:latin typeface="Söhne"/>
              </a:rPr>
              <a:t>memiliki</a:t>
            </a:r>
            <a:r>
              <a:rPr lang="en-ID" sz="1800" dirty="0">
                <a:solidFill>
                  <a:srgbClr val="D1D5DB"/>
                </a:solidFill>
                <a:latin typeface="Söhne"/>
              </a:rPr>
              <a:t> data </a:t>
            </a:r>
            <a:r>
              <a:rPr lang="en-ID" sz="1800" dirty="0" err="1">
                <a:solidFill>
                  <a:srgbClr val="D1D5DB"/>
                </a:solidFill>
                <a:latin typeface="Söhne"/>
              </a:rPr>
              <a:t>tidak</a:t>
            </a:r>
            <a:r>
              <a:rPr lang="en-ID" sz="1800" dirty="0">
                <a:solidFill>
                  <a:srgbClr val="D1D5DB"/>
                </a:solidFill>
                <a:latin typeface="Söhne"/>
              </a:rPr>
              <a:t> </a:t>
            </a:r>
            <a:r>
              <a:rPr lang="en-ID" sz="1800" dirty="0" err="1">
                <a:solidFill>
                  <a:srgbClr val="D1D5DB"/>
                </a:solidFill>
                <a:latin typeface="Söhne"/>
              </a:rPr>
              <a:t>terverifikasi</a:t>
            </a:r>
            <a:r>
              <a:rPr lang="en-ID" sz="1800" dirty="0">
                <a:solidFill>
                  <a:srgbClr val="D1D5DB"/>
                </a:solidFill>
                <a:latin typeface="Söhne"/>
              </a:rPr>
              <a:t> </a:t>
            </a:r>
            <a:r>
              <a:rPr lang="en-ID" sz="1800" dirty="0" err="1">
                <a:solidFill>
                  <a:srgbClr val="D1D5DB"/>
                </a:solidFill>
                <a:latin typeface="Söhne"/>
              </a:rPr>
              <a:t>lebih</a:t>
            </a:r>
            <a:r>
              <a:rPr lang="en-ID" sz="1800" dirty="0">
                <a:solidFill>
                  <a:srgbClr val="D1D5DB"/>
                </a:solidFill>
                <a:latin typeface="Söhne"/>
              </a:rPr>
              <a:t> </a:t>
            </a:r>
            <a:r>
              <a:rPr lang="en-ID" sz="1800" dirty="0" err="1">
                <a:solidFill>
                  <a:srgbClr val="D1D5DB"/>
                </a:solidFill>
                <a:latin typeface="Söhne"/>
              </a:rPr>
              <a:t>besar</a:t>
            </a:r>
            <a:r>
              <a:rPr lang="en-ID" sz="1800" dirty="0">
                <a:solidFill>
                  <a:srgbClr val="D1D5DB"/>
                </a:solidFill>
                <a:latin typeface="Söhne"/>
              </a:rPr>
              <a:t> </a:t>
            </a:r>
            <a:r>
              <a:rPr lang="en-ID" sz="1800" dirty="0" err="1">
                <a:solidFill>
                  <a:srgbClr val="D1D5DB"/>
                </a:solidFill>
                <a:latin typeface="Söhne"/>
              </a:rPr>
              <a:t>jumlahnya</a:t>
            </a:r>
            <a:r>
              <a:rPr lang="en-ID" sz="1800" dirty="0">
                <a:solidFill>
                  <a:srgbClr val="D1D5DB"/>
                </a:solidFill>
                <a:latin typeface="Söhne"/>
              </a:rPr>
              <a:t> </a:t>
            </a:r>
            <a:r>
              <a:rPr lang="en-ID" sz="1800" dirty="0" err="1">
                <a:solidFill>
                  <a:srgbClr val="D1D5DB"/>
                </a:solidFill>
                <a:latin typeface="Söhne"/>
              </a:rPr>
              <a:t>dibanding</a:t>
            </a:r>
            <a:r>
              <a:rPr lang="en-ID" sz="1800" dirty="0">
                <a:solidFill>
                  <a:srgbClr val="D1D5DB"/>
                </a:solidFill>
                <a:latin typeface="Söhne"/>
              </a:rPr>
              <a:t> source verified dan verified.  </a:t>
            </a:r>
          </a:p>
          <a:p>
            <a:pPr marL="0" indent="0">
              <a:buNone/>
            </a:pPr>
            <a:r>
              <a:rPr lang="en-ID" sz="1800" b="0" i="0" dirty="0">
                <a:solidFill>
                  <a:srgbClr val="D1D5DB"/>
                </a:solidFill>
                <a:effectLst/>
                <a:latin typeface="Söhne"/>
              </a:rPr>
              <a:t>Hal </a:t>
            </a:r>
            <a:r>
              <a:rPr lang="en-ID" sz="1800" b="0" i="0" dirty="0" err="1">
                <a:solidFill>
                  <a:srgbClr val="D1D5DB"/>
                </a:solidFill>
                <a:effectLst/>
                <a:latin typeface="Söhne"/>
              </a:rPr>
              <a:t>ini</a:t>
            </a:r>
            <a:r>
              <a:rPr lang="en-ID" sz="1800" b="0" i="0" dirty="0">
                <a:solidFill>
                  <a:srgbClr val="D1D5DB"/>
                </a:solidFill>
                <a:effectLst/>
                <a:latin typeface="Söhne"/>
              </a:rPr>
              <a:t> </a:t>
            </a:r>
            <a:r>
              <a:rPr lang="en-ID" sz="1800" b="0" i="0" dirty="0" err="1">
                <a:solidFill>
                  <a:srgbClr val="D1D5DB"/>
                </a:solidFill>
                <a:effectLst/>
                <a:latin typeface="Söhne"/>
              </a:rPr>
              <a:t>dapat</a:t>
            </a:r>
            <a:r>
              <a:rPr lang="en-ID" sz="1800" b="0" i="0" dirty="0">
                <a:solidFill>
                  <a:srgbClr val="D1D5DB"/>
                </a:solidFill>
                <a:effectLst/>
                <a:latin typeface="Söhne"/>
              </a:rPr>
              <a:t> </a:t>
            </a:r>
            <a:r>
              <a:rPr lang="en-ID" sz="1800" b="0" i="0" dirty="0" err="1">
                <a:solidFill>
                  <a:srgbClr val="D1D5DB"/>
                </a:solidFill>
                <a:effectLst/>
                <a:latin typeface="Söhne"/>
              </a:rPr>
              <a:t>berdampak</a:t>
            </a:r>
            <a:r>
              <a:rPr lang="en-ID" sz="1800" b="0" i="0" dirty="0">
                <a:solidFill>
                  <a:srgbClr val="D1D5DB"/>
                </a:solidFill>
                <a:effectLst/>
                <a:latin typeface="Söhne"/>
              </a:rPr>
              <a:t> negative </a:t>
            </a:r>
            <a:r>
              <a:rPr lang="en-ID" sz="1800" b="0" i="0" dirty="0" err="1">
                <a:solidFill>
                  <a:srgbClr val="D1D5DB"/>
                </a:solidFill>
                <a:effectLst/>
                <a:latin typeface="Söhne"/>
              </a:rPr>
              <a:t>untuk</a:t>
            </a:r>
            <a:r>
              <a:rPr lang="en-ID" sz="1800" b="0" i="0" dirty="0">
                <a:solidFill>
                  <a:srgbClr val="D1D5DB"/>
                </a:solidFill>
                <a:effectLst/>
                <a:latin typeface="Söhne"/>
              </a:rPr>
              <a:t> </a:t>
            </a:r>
            <a:r>
              <a:rPr lang="en-ID" sz="1800" b="0" i="0" dirty="0" err="1">
                <a:solidFill>
                  <a:srgbClr val="D1D5DB"/>
                </a:solidFill>
                <a:effectLst/>
                <a:latin typeface="Söhne"/>
              </a:rPr>
              <a:t>perusahaan</a:t>
            </a:r>
            <a:r>
              <a:rPr lang="en-ID" sz="1800" b="0" i="0" dirty="0">
                <a:solidFill>
                  <a:srgbClr val="D1D5DB"/>
                </a:solidFill>
                <a:effectLst/>
                <a:latin typeface="Söhne"/>
              </a:rPr>
              <a:t> </a:t>
            </a:r>
            <a:r>
              <a:rPr lang="en-ID" sz="1800" b="0" i="0" dirty="0" err="1">
                <a:solidFill>
                  <a:srgbClr val="D1D5DB"/>
                </a:solidFill>
                <a:effectLst/>
                <a:latin typeface="Söhne"/>
              </a:rPr>
              <a:t>seperti</a:t>
            </a:r>
            <a:r>
              <a:rPr lang="en-ID" sz="1800" b="0" i="0" dirty="0">
                <a:solidFill>
                  <a:srgbClr val="D1D5DB"/>
                </a:solidFill>
                <a:effectLst/>
                <a:latin typeface="Söhne"/>
              </a:rPr>
              <a:t> </a:t>
            </a:r>
            <a:r>
              <a:rPr lang="en-ID" sz="1800" b="0" i="0" dirty="0" err="1">
                <a:solidFill>
                  <a:srgbClr val="D1D5DB"/>
                </a:solidFill>
                <a:effectLst/>
                <a:latin typeface="Söhne"/>
              </a:rPr>
              <a:t>resiko</a:t>
            </a:r>
            <a:r>
              <a:rPr lang="en-ID" sz="1800" b="0" i="0" dirty="0">
                <a:solidFill>
                  <a:srgbClr val="D1D5DB"/>
                </a:solidFill>
                <a:effectLst/>
                <a:latin typeface="Söhne"/>
              </a:rPr>
              <a:t> </a:t>
            </a:r>
            <a:r>
              <a:rPr lang="en-ID" sz="1800" b="0" i="0" dirty="0" err="1">
                <a:solidFill>
                  <a:srgbClr val="D1D5DB"/>
                </a:solidFill>
                <a:effectLst/>
                <a:latin typeface="Söhne"/>
              </a:rPr>
              <a:t>kredit</a:t>
            </a:r>
            <a:r>
              <a:rPr lang="en-ID" sz="1800" b="0" i="0" dirty="0">
                <a:solidFill>
                  <a:srgbClr val="D1D5DB"/>
                </a:solidFill>
                <a:effectLst/>
                <a:latin typeface="Söhne"/>
              </a:rPr>
              <a:t> yang </a:t>
            </a:r>
            <a:r>
              <a:rPr lang="en-ID" sz="1800" b="0" i="0" dirty="0" err="1">
                <a:solidFill>
                  <a:srgbClr val="D1D5DB"/>
                </a:solidFill>
                <a:effectLst/>
                <a:latin typeface="Söhne"/>
              </a:rPr>
              <a:t>tidak</a:t>
            </a:r>
            <a:r>
              <a:rPr lang="en-ID" sz="1800" b="0" i="0" dirty="0">
                <a:solidFill>
                  <a:srgbClr val="D1D5DB"/>
                </a:solidFill>
                <a:effectLst/>
                <a:latin typeface="Söhne"/>
              </a:rPr>
              <a:t> </a:t>
            </a:r>
            <a:r>
              <a:rPr lang="en-ID" sz="1800" b="0" i="0" dirty="0" err="1">
                <a:solidFill>
                  <a:srgbClr val="D1D5DB"/>
                </a:solidFill>
                <a:effectLst/>
                <a:latin typeface="Söhne"/>
              </a:rPr>
              <a:t>terdeteksi</a:t>
            </a:r>
            <a:r>
              <a:rPr lang="en-ID" sz="1800" b="0" i="0" dirty="0">
                <a:solidFill>
                  <a:srgbClr val="D1D5DB"/>
                </a:solidFill>
                <a:effectLst/>
                <a:latin typeface="Söhne"/>
              </a:rPr>
              <a:t>, </a:t>
            </a:r>
            <a:r>
              <a:rPr lang="en-ID" sz="1800" b="0" i="0" dirty="0" err="1">
                <a:solidFill>
                  <a:srgbClr val="D1D5DB"/>
                </a:solidFill>
                <a:effectLst/>
                <a:latin typeface="Söhne"/>
              </a:rPr>
              <a:t>su</a:t>
            </a:r>
            <a:r>
              <a:rPr lang="en-ID" sz="1800" dirty="0" err="1">
                <a:solidFill>
                  <a:srgbClr val="D1D5DB"/>
                </a:solidFill>
                <a:latin typeface="Söhne"/>
              </a:rPr>
              <a:t>lit</a:t>
            </a:r>
            <a:r>
              <a:rPr lang="en-ID" sz="1800" dirty="0">
                <a:solidFill>
                  <a:srgbClr val="D1D5DB"/>
                </a:solidFill>
                <a:latin typeface="Söhne"/>
              </a:rPr>
              <a:t> </a:t>
            </a:r>
            <a:r>
              <a:rPr lang="en-ID" sz="1800" dirty="0" err="1">
                <a:solidFill>
                  <a:srgbClr val="D1D5DB"/>
                </a:solidFill>
                <a:latin typeface="Söhne"/>
              </a:rPr>
              <a:t>untuk</a:t>
            </a:r>
            <a:r>
              <a:rPr lang="en-ID" sz="1800" dirty="0">
                <a:solidFill>
                  <a:srgbClr val="D1D5DB"/>
                </a:solidFill>
                <a:latin typeface="Söhne"/>
              </a:rPr>
              <a:t> </a:t>
            </a:r>
            <a:r>
              <a:rPr lang="en-ID" sz="1800" dirty="0" err="1">
                <a:solidFill>
                  <a:srgbClr val="D1D5DB"/>
                </a:solidFill>
                <a:latin typeface="Söhne"/>
              </a:rPr>
              <a:t>mengambil</a:t>
            </a:r>
            <a:r>
              <a:rPr lang="en-ID" sz="1800" dirty="0">
                <a:solidFill>
                  <a:srgbClr val="D1D5DB"/>
                </a:solidFill>
                <a:latin typeface="Söhne"/>
              </a:rPr>
              <a:t> </a:t>
            </a:r>
            <a:r>
              <a:rPr lang="en-ID" sz="1800" dirty="0" err="1">
                <a:solidFill>
                  <a:srgbClr val="D1D5DB"/>
                </a:solidFill>
                <a:latin typeface="Söhne"/>
              </a:rPr>
              <a:t>keputusan</a:t>
            </a:r>
            <a:r>
              <a:rPr lang="en-ID" sz="1800" dirty="0">
                <a:solidFill>
                  <a:srgbClr val="D1D5DB"/>
                </a:solidFill>
                <a:latin typeface="Söhne"/>
              </a:rPr>
              <a:t> yang </a:t>
            </a:r>
            <a:r>
              <a:rPr lang="en-ID" sz="1800" dirty="0" err="1">
                <a:solidFill>
                  <a:srgbClr val="D1D5DB"/>
                </a:solidFill>
                <a:latin typeface="Söhne"/>
              </a:rPr>
              <a:t>tepat</a:t>
            </a:r>
            <a:r>
              <a:rPr lang="en-ID" sz="1800" dirty="0">
                <a:solidFill>
                  <a:srgbClr val="D1D5DB"/>
                </a:solidFill>
                <a:latin typeface="Söhne"/>
              </a:rPr>
              <a:t>, dan yang paling fatal </a:t>
            </a:r>
            <a:r>
              <a:rPr lang="en-ID" sz="1800" dirty="0" err="1">
                <a:solidFill>
                  <a:srgbClr val="D1D5DB"/>
                </a:solidFill>
                <a:latin typeface="Söhne"/>
              </a:rPr>
              <a:t>bisa</a:t>
            </a:r>
            <a:r>
              <a:rPr lang="en-ID" sz="1800" dirty="0">
                <a:solidFill>
                  <a:srgbClr val="D1D5DB"/>
                </a:solidFill>
                <a:latin typeface="Söhne"/>
              </a:rPr>
              <a:t> </a:t>
            </a:r>
            <a:r>
              <a:rPr lang="en-ID" sz="1800" dirty="0" err="1">
                <a:solidFill>
                  <a:srgbClr val="D1D5DB"/>
                </a:solidFill>
                <a:latin typeface="Söhne"/>
              </a:rPr>
              <a:t>menyebabkan</a:t>
            </a:r>
            <a:r>
              <a:rPr lang="en-ID" sz="1800" dirty="0">
                <a:solidFill>
                  <a:srgbClr val="D1D5DB"/>
                </a:solidFill>
                <a:latin typeface="Söhne"/>
              </a:rPr>
              <a:t> </a:t>
            </a:r>
            <a:r>
              <a:rPr lang="en-ID" sz="1800" dirty="0" err="1">
                <a:solidFill>
                  <a:srgbClr val="D1D5DB"/>
                </a:solidFill>
                <a:latin typeface="Söhne"/>
              </a:rPr>
              <a:t>kerugian</a:t>
            </a:r>
            <a:r>
              <a:rPr lang="en-ID" sz="1800" dirty="0">
                <a:solidFill>
                  <a:srgbClr val="D1D5DB"/>
                </a:solidFill>
                <a:latin typeface="Söhne"/>
              </a:rPr>
              <a:t> financial. Oleh </a:t>
            </a:r>
            <a:r>
              <a:rPr lang="en-ID" sz="1800" dirty="0" err="1">
                <a:solidFill>
                  <a:srgbClr val="D1D5DB"/>
                </a:solidFill>
                <a:latin typeface="Söhne"/>
              </a:rPr>
              <a:t>sebab</a:t>
            </a:r>
            <a:r>
              <a:rPr lang="en-ID" sz="1800" dirty="0">
                <a:solidFill>
                  <a:srgbClr val="D1D5DB"/>
                </a:solidFill>
                <a:latin typeface="Söhne"/>
              </a:rPr>
              <a:t> </a:t>
            </a:r>
            <a:r>
              <a:rPr lang="en-ID" sz="1800" dirty="0" err="1">
                <a:solidFill>
                  <a:srgbClr val="D1D5DB"/>
                </a:solidFill>
                <a:latin typeface="Söhne"/>
              </a:rPr>
              <a:t>itu</a:t>
            </a:r>
            <a:r>
              <a:rPr lang="en-ID" sz="1800" dirty="0">
                <a:solidFill>
                  <a:srgbClr val="D1D5DB"/>
                </a:solidFill>
                <a:latin typeface="Söhne"/>
              </a:rPr>
              <a:t> </a:t>
            </a:r>
            <a:r>
              <a:rPr lang="en-ID" sz="1800" dirty="0" err="1">
                <a:solidFill>
                  <a:srgbClr val="D1D5DB"/>
                </a:solidFill>
                <a:latin typeface="Söhne"/>
              </a:rPr>
              <a:t>perlu</a:t>
            </a:r>
            <a:r>
              <a:rPr lang="en-ID" sz="1800" dirty="0">
                <a:solidFill>
                  <a:srgbClr val="D1D5DB"/>
                </a:solidFill>
                <a:latin typeface="Söhne"/>
              </a:rPr>
              <a:t> </a:t>
            </a:r>
            <a:r>
              <a:rPr lang="en-ID" sz="1800" dirty="0" err="1">
                <a:solidFill>
                  <a:srgbClr val="D1D5DB"/>
                </a:solidFill>
                <a:latin typeface="Söhne"/>
              </a:rPr>
              <a:t>ada</a:t>
            </a:r>
            <a:r>
              <a:rPr lang="en-ID" sz="1800" dirty="0">
                <a:solidFill>
                  <a:srgbClr val="D1D5DB"/>
                </a:solidFill>
                <a:latin typeface="Söhne"/>
              </a:rPr>
              <a:t> </a:t>
            </a:r>
            <a:r>
              <a:rPr lang="en-ID" sz="1800" dirty="0" err="1">
                <a:solidFill>
                  <a:srgbClr val="D1D5DB"/>
                </a:solidFill>
                <a:latin typeface="Söhne"/>
              </a:rPr>
              <a:t>penanganan</a:t>
            </a:r>
            <a:r>
              <a:rPr lang="en-ID" sz="1800" dirty="0">
                <a:solidFill>
                  <a:srgbClr val="D1D5DB"/>
                </a:solidFill>
                <a:latin typeface="Söhne"/>
              </a:rPr>
              <a:t> </a:t>
            </a:r>
            <a:r>
              <a:rPr lang="en-ID" sz="1800" dirty="0" err="1">
                <a:solidFill>
                  <a:srgbClr val="D1D5DB"/>
                </a:solidFill>
                <a:latin typeface="Söhne"/>
              </a:rPr>
              <a:t>lebih</a:t>
            </a:r>
            <a:r>
              <a:rPr lang="en-ID" sz="1800" dirty="0">
                <a:solidFill>
                  <a:srgbClr val="D1D5DB"/>
                </a:solidFill>
                <a:latin typeface="Söhne"/>
              </a:rPr>
              <a:t> </a:t>
            </a:r>
            <a:r>
              <a:rPr lang="en-ID" sz="1800" dirty="0" err="1">
                <a:solidFill>
                  <a:srgbClr val="D1D5DB"/>
                </a:solidFill>
                <a:latin typeface="Söhne"/>
              </a:rPr>
              <a:t>lanjut</a:t>
            </a:r>
            <a:r>
              <a:rPr lang="en-ID" sz="1800" b="0" i="0" dirty="0">
                <a:solidFill>
                  <a:srgbClr val="D1D5DB"/>
                </a:solidFill>
                <a:effectLst/>
                <a:latin typeface="Söhne"/>
              </a:rPr>
              <a:t>.</a:t>
            </a:r>
            <a:endParaRPr lang="en-ID" sz="1800" dirty="0"/>
          </a:p>
        </p:txBody>
      </p:sp>
      <p:sp>
        <p:nvSpPr>
          <p:cNvPr id="4" name="Slide Number Placeholder 3">
            <a:extLst>
              <a:ext uri="{FF2B5EF4-FFF2-40B4-BE49-F238E27FC236}">
                <a16:creationId xmlns:a16="http://schemas.microsoft.com/office/drawing/2014/main" id="{99986E3E-3DF4-328A-F51C-99EB5C858F1C}"/>
              </a:ext>
            </a:extLst>
          </p:cNvPr>
          <p:cNvSpPr>
            <a:spLocks noGrp="1"/>
          </p:cNvSpPr>
          <p:nvPr>
            <p:ph type="sldNum" sz="quarter" idx="12"/>
          </p:nvPr>
        </p:nvSpPr>
        <p:spPr/>
        <p:txBody>
          <a:bodyPr/>
          <a:lstStyle/>
          <a:p>
            <a:fld id="{03DC2DEF-D2FE-4B45-ABA4-9F153FD1C98A}" type="slidenum">
              <a:rPr lang="en-US" smtClean="0"/>
              <a:t>7</a:t>
            </a:fld>
            <a:endParaRPr lang="en-US" dirty="0"/>
          </a:p>
        </p:txBody>
      </p:sp>
      <p:sp>
        <p:nvSpPr>
          <p:cNvPr id="5" name="Picture Placeholder 4">
            <a:extLst>
              <a:ext uri="{FF2B5EF4-FFF2-40B4-BE49-F238E27FC236}">
                <a16:creationId xmlns:a16="http://schemas.microsoft.com/office/drawing/2014/main" id="{48854131-E083-76B2-1288-9F9A2D056709}"/>
              </a:ext>
            </a:extLst>
          </p:cNvPr>
          <p:cNvSpPr>
            <a:spLocks noGrp="1"/>
          </p:cNvSpPr>
          <p:nvPr>
            <p:ph type="pic" sz="quarter" idx="13"/>
          </p:nvPr>
        </p:nvSpPr>
        <p:spPr>
          <a:xfrm>
            <a:off x="6085083" y="1460501"/>
            <a:ext cx="5795963" cy="4740274"/>
          </a:xfrm>
        </p:spPr>
        <p:txBody>
          <a:bodyPr/>
          <a:lstStyle/>
          <a:p>
            <a:endParaRPr lang="en-ID"/>
          </a:p>
        </p:txBody>
      </p:sp>
      <p:pic>
        <p:nvPicPr>
          <p:cNvPr id="7" name="Picture 6">
            <a:extLst>
              <a:ext uri="{FF2B5EF4-FFF2-40B4-BE49-F238E27FC236}">
                <a16:creationId xmlns:a16="http://schemas.microsoft.com/office/drawing/2014/main" id="{052833F2-AF89-670C-A337-CDD898F2FC92}"/>
              </a:ext>
            </a:extLst>
          </p:cNvPr>
          <p:cNvPicPr>
            <a:picLocks noChangeAspect="1"/>
          </p:cNvPicPr>
          <p:nvPr/>
        </p:nvPicPr>
        <p:blipFill>
          <a:blip r:embed="rId2"/>
          <a:stretch>
            <a:fillRect/>
          </a:stretch>
        </p:blipFill>
        <p:spPr>
          <a:xfrm>
            <a:off x="6096000" y="1775156"/>
            <a:ext cx="5886748" cy="4107786"/>
          </a:xfrm>
          <a:prstGeom prst="rect">
            <a:avLst/>
          </a:prstGeom>
        </p:spPr>
      </p:pic>
    </p:spTree>
    <p:extLst>
      <p:ext uri="{BB962C8B-B14F-4D97-AF65-F5344CB8AC3E}">
        <p14:creationId xmlns:p14="http://schemas.microsoft.com/office/powerpoint/2010/main" val="2037688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a:xfrm>
            <a:off x="876300" y="2841278"/>
            <a:ext cx="10439400" cy="1175444"/>
          </a:xfrm>
        </p:spPr>
        <p:txBody>
          <a:bodyPr>
            <a:normAutofit/>
          </a:bodyPr>
          <a:lstStyle/>
          <a:p>
            <a:pPr rtl="0">
              <a:spcBef>
                <a:spcPts val="0"/>
              </a:spcBef>
              <a:spcAft>
                <a:spcPts val="0"/>
              </a:spcAft>
            </a:pPr>
            <a:r>
              <a:rPr lang="en-US" dirty="0"/>
              <a:t>Data Preprocessing</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p:txBody>
          <a:bodyPr/>
          <a:lstStyle/>
          <a:p>
            <a:fld id="{03DC2DEF-D2FE-4B45-ABA4-9F153FD1C98A}" type="slidenum">
              <a:rPr lang="en-US" smtClean="0"/>
              <a:t>8</a:t>
            </a:fld>
            <a:endParaRPr lang="en-US" dirty="0"/>
          </a:p>
        </p:txBody>
      </p:sp>
    </p:spTree>
    <p:extLst>
      <p:ext uri="{BB962C8B-B14F-4D97-AF65-F5344CB8AC3E}">
        <p14:creationId xmlns:p14="http://schemas.microsoft.com/office/powerpoint/2010/main" val="2174555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34D6-0729-E65F-45C2-571AF237CBAC}"/>
              </a:ext>
            </a:extLst>
          </p:cNvPr>
          <p:cNvSpPr>
            <a:spLocks noGrp="1"/>
          </p:cNvSpPr>
          <p:nvPr>
            <p:ph type="title"/>
          </p:nvPr>
        </p:nvSpPr>
        <p:spPr/>
        <p:txBody>
          <a:bodyPr/>
          <a:lstStyle/>
          <a:p>
            <a:r>
              <a:rPr lang="en-US" dirty="0"/>
              <a:t>Checkpoint</a:t>
            </a:r>
            <a:endParaRPr lang="en-ID" dirty="0"/>
          </a:p>
        </p:txBody>
      </p:sp>
      <p:sp>
        <p:nvSpPr>
          <p:cNvPr id="3" name="Content Placeholder 2">
            <a:extLst>
              <a:ext uri="{FF2B5EF4-FFF2-40B4-BE49-F238E27FC236}">
                <a16:creationId xmlns:a16="http://schemas.microsoft.com/office/drawing/2014/main" id="{EFB55578-7815-79F2-D71F-2B43CC0AF98A}"/>
              </a:ext>
            </a:extLst>
          </p:cNvPr>
          <p:cNvSpPr>
            <a:spLocks noGrp="1"/>
          </p:cNvSpPr>
          <p:nvPr>
            <p:ph idx="1"/>
          </p:nvPr>
        </p:nvSpPr>
        <p:spPr/>
        <p:txBody>
          <a:bodyPr/>
          <a:lstStyle/>
          <a:p>
            <a:r>
              <a:rPr lang="en-US" dirty="0" err="1"/>
              <a:t>Terdiri</a:t>
            </a:r>
            <a:r>
              <a:rPr lang="en-US" dirty="0"/>
              <a:t> </a:t>
            </a:r>
            <a:r>
              <a:rPr lang="en-US" dirty="0" err="1"/>
              <a:t>dari</a:t>
            </a:r>
            <a:r>
              <a:rPr lang="en-US" dirty="0"/>
              <a:t> 75 </a:t>
            </a:r>
            <a:r>
              <a:rPr lang="en-US" dirty="0" err="1"/>
              <a:t>kolom</a:t>
            </a:r>
            <a:r>
              <a:rPr lang="en-US" dirty="0"/>
              <a:t> dan 466285 baris</a:t>
            </a:r>
          </a:p>
          <a:p>
            <a:r>
              <a:rPr lang="en-US" dirty="0"/>
              <a:t>Dan </a:t>
            </a:r>
            <a:r>
              <a:rPr lang="en-US" dirty="0" err="1"/>
              <a:t>memiliki</a:t>
            </a:r>
            <a:r>
              <a:rPr lang="en-US" dirty="0"/>
              <a:t> </a:t>
            </a:r>
            <a:r>
              <a:rPr lang="en-US" dirty="0" err="1"/>
              <a:t>sebanyak</a:t>
            </a:r>
            <a:r>
              <a:rPr lang="en-US" dirty="0"/>
              <a:t> 17 </a:t>
            </a:r>
            <a:r>
              <a:rPr lang="en-US" dirty="0" err="1"/>
              <a:t>kolom</a:t>
            </a:r>
            <a:r>
              <a:rPr lang="en-US" dirty="0"/>
              <a:t> yang </a:t>
            </a:r>
            <a:r>
              <a:rPr lang="en-US" dirty="0" err="1"/>
              <a:t>tidak</a:t>
            </a:r>
            <a:r>
              <a:rPr lang="en-US" dirty="0"/>
              <a:t> </a:t>
            </a:r>
            <a:r>
              <a:rPr lang="en-US" dirty="0" err="1"/>
              <a:t>memiliki</a:t>
            </a:r>
            <a:r>
              <a:rPr lang="en-US" dirty="0"/>
              <a:t> data (</a:t>
            </a:r>
            <a:r>
              <a:rPr lang="en-US" dirty="0" err="1"/>
              <a:t>kosong</a:t>
            </a:r>
            <a:r>
              <a:rPr lang="en-US" dirty="0"/>
              <a:t>)</a:t>
            </a:r>
          </a:p>
        </p:txBody>
      </p:sp>
      <p:sp>
        <p:nvSpPr>
          <p:cNvPr id="4" name="Slide Number Placeholder 3">
            <a:extLst>
              <a:ext uri="{FF2B5EF4-FFF2-40B4-BE49-F238E27FC236}">
                <a16:creationId xmlns:a16="http://schemas.microsoft.com/office/drawing/2014/main" id="{32B094B3-D706-0FC9-D25E-B8CF21CB8A1A}"/>
              </a:ext>
            </a:extLst>
          </p:cNvPr>
          <p:cNvSpPr>
            <a:spLocks noGrp="1"/>
          </p:cNvSpPr>
          <p:nvPr>
            <p:ph type="sldNum" sz="quarter" idx="12"/>
          </p:nvPr>
        </p:nvSpPr>
        <p:spPr/>
        <p:txBody>
          <a:bodyPr/>
          <a:lstStyle/>
          <a:p>
            <a:fld id="{03DC2DEF-D2FE-4B45-ABA4-9F153FD1C98A}" type="slidenum">
              <a:rPr lang="en-US" smtClean="0"/>
              <a:t>9</a:t>
            </a:fld>
            <a:endParaRPr lang="en-US" dirty="0"/>
          </a:p>
        </p:txBody>
      </p:sp>
      <p:sp>
        <p:nvSpPr>
          <p:cNvPr id="5" name="Picture Placeholder 4">
            <a:extLst>
              <a:ext uri="{FF2B5EF4-FFF2-40B4-BE49-F238E27FC236}">
                <a16:creationId xmlns:a16="http://schemas.microsoft.com/office/drawing/2014/main" id="{AB23DC5E-0676-B823-528E-02CD77FB6669}"/>
              </a:ext>
            </a:extLst>
          </p:cNvPr>
          <p:cNvSpPr>
            <a:spLocks noGrp="1"/>
          </p:cNvSpPr>
          <p:nvPr>
            <p:ph type="pic" sz="quarter" idx="13"/>
          </p:nvPr>
        </p:nvSpPr>
        <p:spPr/>
        <p:txBody>
          <a:bodyPr/>
          <a:lstStyle/>
          <a:p>
            <a:endParaRPr lang="en-ID"/>
          </a:p>
        </p:txBody>
      </p:sp>
      <p:pic>
        <p:nvPicPr>
          <p:cNvPr id="6" name="Picture 5">
            <a:extLst>
              <a:ext uri="{FF2B5EF4-FFF2-40B4-BE49-F238E27FC236}">
                <a16:creationId xmlns:a16="http://schemas.microsoft.com/office/drawing/2014/main" id="{EA02E16D-98B5-A9DD-4DF7-F109C7E54462}"/>
              </a:ext>
            </a:extLst>
          </p:cNvPr>
          <p:cNvPicPr>
            <a:picLocks noChangeAspect="1"/>
          </p:cNvPicPr>
          <p:nvPr/>
        </p:nvPicPr>
        <p:blipFill>
          <a:blip r:embed="rId2"/>
          <a:stretch>
            <a:fillRect/>
          </a:stretch>
        </p:blipFill>
        <p:spPr>
          <a:xfrm>
            <a:off x="1117600" y="944672"/>
            <a:ext cx="5138059" cy="5121055"/>
          </a:xfrm>
          <a:prstGeom prst="rect">
            <a:avLst/>
          </a:prstGeom>
        </p:spPr>
      </p:pic>
    </p:spTree>
    <p:extLst>
      <p:ext uri="{BB962C8B-B14F-4D97-AF65-F5344CB8AC3E}">
        <p14:creationId xmlns:p14="http://schemas.microsoft.com/office/powerpoint/2010/main" val="2808403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45D1-EFBD-3CD0-FDC9-2BEAD31FDC43}"/>
              </a:ext>
            </a:extLst>
          </p:cNvPr>
          <p:cNvSpPr>
            <a:spLocks noGrp="1"/>
          </p:cNvSpPr>
          <p:nvPr>
            <p:ph type="title"/>
          </p:nvPr>
        </p:nvSpPr>
        <p:spPr/>
        <p:txBody>
          <a:bodyPr/>
          <a:lstStyle/>
          <a:p>
            <a:r>
              <a:rPr lang="en-GB" dirty="0"/>
              <a:t>Rename Columns</a:t>
            </a:r>
            <a:endParaRPr lang="en-ID" dirty="0"/>
          </a:p>
        </p:txBody>
      </p:sp>
      <p:sp>
        <p:nvSpPr>
          <p:cNvPr id="3" name="Content Placeholder 2">
            <a:extLst>
              <a:ext uri="{FF2B5EF4-FFF2-40B4-BE49-F238E27FC236}">
                <a16:creationId xmlns:a16="http://schemas.microsoft.com/office/drawing/2014/main" id="{E24EE29D-633C-B8FC-C2F4-3BC9FD9B993B}"/>
              </a:ext>
            </a:extLst>
          </p:cNvPr>
          <p:cNvSpPr>
            <a:spLocks noGrp="1"/>
          </p:cNvSpPr>
          <p:nvPr>
            <p:ph idx="1"/>
          </p:nvPr>
        </p:nvSpPr>
        <p:spPr/>
        <p:txBody>
          <a:bodyPr/>
          <a:lstStyle/>
          <a:p>
            <a:r>
              <a:rPr lang="en-US" dirty="0" err="1"/>
              <a:t>Untuk</a:t>
            </a:r>
            <a:r>
              <a:rPr lang="en-US" dirty="0"/>
              <a:t> </a:t>
            </a:r>
            <a:r>
              <a:rPr lang="en-US" dirty="0" err="1"/>
              <a:t>mempermudah</a:t>
            </a:r>
            <a:r>
              <a:rPr lang="en-US" dirty="0"/>
              <a:t> </a:t>
            </a:r>
            <a:r>
              <a:rPr lang="en-US" dirty="0" err="1"/>
              <a:t>memahami</a:t>
            </a:r>
            <a:r>
              <a:rPr lang="en-US" dirty="0"/>
              <a:t> dataset </a:t>
            </a:r>
            <a:r>
              <a:rPr lang="en-US" dirty="0" err="1"/>
              <a:t>saya</a:t>
            </a:r>
            <a:r>
              <a:rPr lang="en-US" dirty="0"/>
              <a:t> </a:t>
            </a:r>
            <a:r>
              <a:rPr lang="en-US" dirty="0" err="1"/>
              <a:t>melakukan</a:t>
            </a:r>
            <a:r>
              <a:rPr lang="en-US" dirty="0"/>
              <a:t> rename </a:t>
            </a:r>
            <a:r>
              <a:rPr lang="en-US" dirty="0" err="1"/>
              <a:t>kolom</a:t>
            </a:r>
            <a:r>
              <a:rPr lang="en-US" dirty="0"/>
              <a:t> </a:t>
            </a:r>
            <a:r>
              <a:rPr lang="en-US" dirty="0" err="1"/>
              <a:t>berdasarkan</a:t>
            </a:r>
            <a:r>
              <a:rPr lang="en-US" dirty="0"/>
              <a:t> data yang </a:t>
            </a:r>
            <a:r>
              <a:rPr lang="en-US" dirty="0" err="1"/>
              <a:t>diberikan</a:t>
            </a:r>
            <a:r>
              <a:rPr lang="en-US" dirty="0"/>
              <a:t> </a:t>
            </a:r>
          </a:p>
          <a:p>
            <a:pPr marL="0" indent="0">
              <a:buNone/>
            </a:pPr>
            <a:endParaRPr lang="en-ID" dirty="0"/>
          </a:p>
        </p:txBody>
      </p:sp>
      <p:sp>
        <p:nvSpPr>
          <p:cNvPr id="4" name="Slide Number Placeholder 3">
            <a:extLst>
              <a:ext uri="{FF2B5EF4-FFF2-40B4-BE49-F238E27FC236}">
                <a16:creationId xmlns:a16="http://schemas.microsoft.com/office/drawing/2014/main" id="{A7A3350A-5E21-EDC9-0113-C59E76C30687}"/>
              </a:ext>
            </a:extLst>
          </p:cNvPr>
          <p:cNvSpPr>
            <a:spLocks noGrp="1"/>
          </p:cNvSpPr>
          <p:nvPr>
            <p:ph type="sldNum" sz="quarter" idx="12"/>
          </p:nvPr>
        </p:nvSpPr>
        <p:spPr/>
        <p:txBody>
          <a:bodyPr/>
          <a:lstStyle/>
          <a:p>
            <a:fld id="{03DC2DEF-D2FE-4B45-ABA4-9F153FD1C98A}" type="slidenum">
              <a:rPr lang="en-US" smtClean="0"/>
              <a:t>10</a:t>
            </a:fld>
            <a:endParaRPr lang="en-US" dirty="0"/>
          </a:p>
        </p:txBody>
      </p:sp>
      <p:sp>
        <p:nvSpPr>
          <p:cNvPr id="5" name="Picture Placeholder 4">
            <a:extLst>
              <a:ext uri="{FF2B5EF4-FFF2-40B4-BE49-F238E27FC236}">
                <a16:creationId xmlns:a16="http://schemas.microsoft.com/office/drawing/2014/main" id="{D4788F35-D946-4E42-2413-F82FE2D5B408}"/>
              </a:ext>
            </a:extLst>
          </p:cNvPr>
          <p:cNvSpPr>
            <a:spLocks noGrp="1"/>
          </p:cNvSpPr>
          <p:nvPr>
            <p:ph type="pic" sz="quarter" idx="13"/>
          </p:nvPr>
        </p:nvSpPr>
        <p:spPr/>
        <p:txBody>
          <a:bodyPr/>
          <a:lstStyle/>
          <a:p>
            <a:endParaRPr lang="en-ID"/>
          </a:p>
        </p:txBody>
      </p:sp>
      <p:pic>
        <p:nvPicPr>
          <p:cNvPr id="6" name="Picture 5">
            <a:extLst>
              <a:ext uri="{FF2B5EF4-FFF2-40B4-BE49-F238E27FC236}">
                <a16:creationId xmlns:a16="http://schemas.microsoft.com/office/drawing/2014/main" id="{AB7E2318-9EFE-E106-D077-9A08E3B281B9}"/>
              </a:ext>
            </a:extLst>
          </p:cNvPr>
          <p:cNvPicPr>
            <a:picLocks noChangeAspect="1"/>
          </p:cNvPicPr>
          <p:nvPr/>
        </p:nvPicPr>
        <p:blipFill>
          <a:blip r:embed="rId2"/>
          <a:stretch>
            <a:fillRect/>
          </a:stretch>
        </p:blipFill>
        <p:spPr>
          <a:xfrm>
            <a:off x="1117601" y="1944106"/>
            <a:ext cx="5151280" cy="3034294"/>
          </a:xfrm>
          <a:prstGeom prst="rect">
            <a:avLst/>
          </a:prstGeom>
        </p:spPr>
      </p:pic>
    </p:spTree>
    <p:extLst>
      <p:ext uri="{BB962C8B-B14F-4D97-AF65-F5344CB8AC3E}">
        <p14:creationId xmlns:p14="http://schemas.microsoft.com/office/powerpoint/2010/main" val="3708592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1932C-7145-4FBD-B81D-9ADC42401B87}"/>
              </a:ext>
            </a:extLst>
          </p:cNvPr>
          <p:cNvSpPr>
            <a:spLocks noGrp="1"/>
          </p:cNvSpPr>
          <p:nvPr>
            <p:ph type="title"/>
          </p:nvPr>
        </p:nvSpPr>
        <p:spPr/>
        <p:txBody>
          <a:bodyPr/>
          <a:lstStyle/>
          <a:p>
            <a:r>
              <a:rPr lang="en-US" dirty="0"/>
              <a:t>Check Missing Data</a:t>
            </a:r>
          </a:p>
        </p:txBody>
      </p:sp>
      <p:sp>
        <p:nvSpPr>
          <p:cNvPr id="6" name="Content Placeholder 5">
            <a:extLst>
              <a:ext uri="{FF2B5EF4-FFF2-40B4-BE49-F238E27FC236}">
                <a16:creationId xmlns:a16="http://schemas.microsoft.com/office/drawing/2014/main" id="{33DA7B46-E592-40C7-91D7-A26B47A30C67}"/>
              </a:ext>
            </a:extLst>
          </p:cNvPr>
          <p:cNvSpPr>
            <a:spLocks noGrp="1"/>
          </p:cNvSpPr>
          <p:nvPr>
            <p:ph sz="half" idx="1"/>
          </p:nvPr>
        </p:nvSpPr>
        <p:spPr>
          <a:xfrm>
            <a:off x="581026" y="1724025"/>
            <a:ext cx="3143250" cy="4253694"/>
          </a:xfrm>
        </p:spPr>
        <p:txBody>
          <a:bodyPr>
            <a:normAutofit fontScale="92500" lnSpcReduction="10000"/>
          </a:bodyPr>
          <a:lstStyle/>
          <a:p>
            <a:r>
              <a:rPr lang="en-US" dirty="0" err="1"/>
              <a:t>Melakukan</a:t>
            </a:r>
            <a:r>
              <a:rPr lang="en-US" dirty="0"/>
              <a:t> drop </a:t>
            </a:r>
            <a:r>
              <a:rPr lang="en-US" dirty="0" err="1"/>
              <a:t>kolom</a:t>
            </a:r>
            <a:r>
              <a:rPr lang="en-US" dirty="0"/>
              <a:t> yang </a:t>
            </a:r>
            <a:r>
              <a:rPr lang="en-US" dirty="0" err="1"/>
              <a:t>tidak</a:t>
            </a:r>
            <a:r>
              <a:rPr lang="en-US" dirty="0"/>
              <a:t> </a:t>
            </a:r>
            <a:r>
              <a:rPr lang="en-US" dirty="0" err="1"/>
              <a:t>memiliki</a:t>
            </a:r>
            <a:r>
              <a:rPr lang="en-US" dirty="0"/>
              <a:t> value </a:t>
            </a:r>
            <a:r>
              <a:rPr lang="en-US" dirty="0" err="1"/>
              <a:t>sama</a:t>
            </a:r>
            <a:r>
              <a:rPr lang="en-US" dirty="0"/>
              <a:t> </a:t>
            </a:r>
            <a:r>
              <a:rPr lang="en-US" dirty="0" err="1"/>
              <a:t>sekali</a:t>
            </a:r>
            <a:r>
              <a:rPr lang="en-US" dirty="0"/>
              <a:t>, total </a:t>
            </a:r>
            <a:r>
              <a:rPr lang="en-US" dirty="0" err="1"/>
              <a:t>kolom</a:t>
            </a:r>
            <a:r>
              <a:rPr lang="en-US" dirty="0"/>
              <a:t> yang </a:t>
            </a:r>
            <a:r>
              <a:rPr lang="en-US" dirty="0" err="1"/>
              <a:t>tidak</a:t>
            </a:r>
            <a:r>
              <a:rPr lang="en-US" dirty="0"/>
              <a:t> </a:t>
            </a:r>
            <a:r>
              <a:rPr lang="en-US" dirty="0" err="1"/>
              <a:t>memiliki</a:t>
            </a:r>
            <a:r>
              <a:rPr lang="en-US" dirty="0"/>
              <a:t> </a:t>
            </a:r>
            <a:r>
              <a:rPr lang="en-US" dirty="0" err="1"/>
              <a:t>valu</a:t>
            </a:r>
            <a:r>
              <a:rPr lang="en-US" dirty="0"/>
              <a:t> </a:t>
            </a:r>
            <a:r>
              <a:rPr lang="en-US" dirty="0" err="1"/>
              <a:t>sama</a:t>
            </a:r>
            <a:r>
              <a:rPr lang="en-US" dirty="0"/>
              <a:t> </a:t>
            </a:r>
            <a:r>
              <a:rPr lang="en-US" dirty="0" err="1"/>
              <a:t>sekali</a:t>
            </a:r>
            <a:r>
              <a:rPr lang="en-US" dirty="0"/>
              <a:t> </a:t>
            </a:r>
            <a:r>
              <a:rPr lang="en-US" dirty="0" err="1"/>
              <a:t>sebesar</a:t>
            </a:r>
            <a:r>
              <a:rPr lang="en-US" dirty="0"/>
              <a:t> 18 </a:t>
            </a:r>
            <a:r>
              <a:rPr lang="en-US" dirty="0" err="1"/>
              <a:t>kolom</a:t>
            </a:r>
            <a:r>
              <a:rPr lang="en-US" dirty="0"/>
              <a:t> </a:t>
            </a:r>
          </a:p>
          <a:p>
            <a:r>
              <a:rPr lang="en-US" dirty="0" err="1"/>
              <a:t>Kemudian</a:t>
            </a:r>
            <a:r>
              <a:rPr lang="en-US" dirty="0"/>
              <a:t> </a:t>
            </a:r>
            <a:r>
              <a:rPr lang="en-US" dirty="0" err="1"/>
              <a:t>saya</a:t>
            </a:r>
            <a:r>
              <a:rPr lang="en-US" dirty="0"/>
              <a:t> </a:t>
            </a:r>
            <a:r>
              <a:rPr lang="en-US" dirty="0" err="1"/>
              <a:t>melakukan</a:t>
            </a:r>
            <a:r>
              <a:rPr lang="en-US" dirty="0"/>
              <a:t> </a:t>
            </a:r>
            <a:r>
              <a:rPr lang="en-US" dirty="0" err="1"/>
              <a:t>pengecekan</a:t>
            </a:r>
            <a:r>
              <a:rPr lang="en-US" dirty="0"/>
              <a:t> </a:t>
            </a:r>
            <a:r>
              <a:rPr lang="en-US" dirty="0" err="1"/>
              <a:t>ulang</a:t>
            </a:r>
            <a:r>
              <a:rPr lang="en-US" dirty="0"/>
              <a:t> </a:t>
            </a:r>
            <a:r>
              <a:rPr lang="en-US" dirty="0" err="1"/>
              <a:t>untuk</a:t>
            </a:r>
            <a:r>
              <a:rPr lang="en-US" dirty="0"/>
              <a:t> </a:t>
            </a:r>
            <a:r>
              <a:rPr lang="en-US" dirty="0" err="1"/>
              <a:t>melihat</a:t>
            </a:r>
            <a:r>
              <a:rPr lang="en-US" dirty="0"/>
              <a:t> </a:t>
            </a:r>
            <a:r>
              <a:rPr lang="en-US" dirty="0" err="1"/>
              <a:t>kolom</a:t>
            </a:r>
            <a:r>
              <a:rPr lang="en-US" dirty="0"/>
              <a:t> </a:t>
            </a:r>
            <a:r>
              <a:rPr lang="en-US" dirty="0" err="1"/>
              <a:t>apa</a:t>
            </a:r>
            <a:r>
              <a:rPr lang="en-US" dirty="0"/>
              <a:t> </a:t>
            </a:r>
            <a:r>
              <a:rPr lang="en-US" dirty="0" err="1"/>
              <a:t>saja</a:t>
            </a:r>
            <a:r>
              <a:rPr lang="en-US" dirty="0"/>
              <a:t> yang </a:t>
            </a:r>
            <a:r>
              <a:rPr lang="en-US" dirty="0" err="1"/>
              <a:t>masih</a:t>
            </a:r>
            <a:r>
              <a:rPr lang="en-US" dirty="0"/>
              <a:t> </a:t>
            </a:r>
            <a:r>
              <a:rPr lang="en-US" dirty="0" err="1"/>
              <a:t>memiliki</a:t>
            </a:r>
            <a:r>
              <a:rPr lang="en-US" dirty="0"/>
              <a:t> missing value.</a:t>
            </a:r>
          </a:p>
          <a:p>
            <a:r>
              <a:rPr lang="en-US" dirty="0" err="1"/>
              <a:t>Selanjutnya</a:t>
            </a:r>
            <a:r>
              <a:rPr lang="en-US" dirty="0"/>
              <a:t> </a:t>
            </a:r>
            <a:r>
              <a:rPr lang="en-US" dirty="0" err="1"/>
              <a:t>saya</a:t>
            </a:r>
            <a:r>
              <a:rPr lang="en-US" dirty="0"/>
              <a:t> </a:t>
            </a:r>
            <a:r>
              <a:rPr lang="en-US" dirty="0" err="1"/>
              <a:t>membuat</a:t>
            </a:r>
            <a:r>
              <a:rPr lang="en-US" dirty="0"/>
              <a:t> </a:t>
            </a:r>
            <a:r>
              <a:rPr lang="en-US" dirty="0" err="1"/>
              <a:t>sebuah</a:t>
            </a:r>
            <a:r>
              <a:rPr lang="en-US" dirty="0"/>
              <a:t> </a:t>
            </a:r>
            <a:r>
              <a:rPr lang="en-US" dirty="0" err="1"/>
              <a:t>fungsi</a:t>
            </a:r>
            <a:r>
              <a:rPr lang="en-US" dirty="0"/>
              <a:t> </a:t>
            </a:r>
            <a:r>
              <a:rPr lang="en-US" dirty="0" err="1"/>
              <a:t>untuk</a:t>
            </a:r>
            <a:r>
              <a:rPr lang="en-US" dirty="0"/>
              <a:t> </a:t>
            </a:r>
            <a:r>
              <a:rPr lang="en-US" dirty="0" err="1"/>
              <a:t>mempermudah</a:t>
            </a:r>
            <a:r>
              <a:rPr lang="en-US" dirty="0"/>
              <a:t> proses </a:t>
            </a:r>
            <a:r>
              <a:rPr lang="en-US" dirty="0" err="1"/>
              <a:t>imputasi</a:t>
            </a:r>
            <a:r>
              <a:rPr lang="en-US" dirty="0"/>
              <a:t> </a:t>
            </a:r>
            <a:r>
              <a:rPr lang="en-US" dirty="0" err="1"/>
              <a:t>untuk</a:t>
            </a:r>
            <a:r>
              <a:rPr lang="en-US" dirty="0"/>
              <a:t> data yang </a:t>
            </a:r>
            <a:r>
              <a:rPr lang="en-US" dirty="0" err="1"/>
              <a:t>masih</a:t>
            </a:r>
            <a:r>
              <a:rPr lang="en-US" dirty="0"/>
              <a:t> </a:t>
            </a:r>
            <a:r>
              <a:rPr lang="en-US" dirty="0" err="1"/>
              <a:t>memiliki</a:t>
            </a:r>
            <a:r>
              <a:rPr lang="en-US" dirty="0"/>
              <a:t> missing value</a:t>
            </a:r>
          </a:p>
          <a:p>
            <a:r>
              <a:rPr lang="en-US" dirty="0" err="1"/>
              <a:t>Terdapat</a:t>
            </a:r>
            <a:r>
              <a:rPr lang="en-US" dirty="0"/>
              <a:t> </a:t>
            </a:r>
            <a:r>
              <a:rPr lang="en-US" dirty="0" err="1"/>
              <a:t>beberapa</a:t>
            </a:r>
            <a:r>
              <a:rPr lang="en-US" dirty="0"/>
              <a:t> </a:t>
            </a:r>
            <a:r>
              <a:rPr lang="en-US" dirty="0" err="1"/>
              <a:t>kolom</a:t>
            </a:r>
            <a:r>
              <a:rPr lang="en-US" dirty="0"/>
              <a:t> yang </a:t>
            </a:r>
            <a:r>
              <a:rPr lang="en-US" dirty="0" err="1"/>
              <a:t>saya</a:t>
            </a:r>
            <a:r>
              <a:rPr lang="en-US" dirty="0"/>
              <a:t> </a:t>
            </a:r>
            <a:r>
              <a:rPr lang="en-US" dirty="0" err="1"/>
              <a:t>lakukan</a:t>
            </a:r>
            <a:r>
              <a:rPr lang="en-US" dirty="0"/>
              <a:t> </a:t>
            </a:r>
            <a:r>
              <a:rPr lang="en-US" dirty="0" err="1"/>
              <a:t>perbaikan</a:t>
            </a:r>
            <a:r>
              <a:rPr lang="en-US" dirty="0"/>
              <a:t> type data </a:t>
            </a:r>
            <a:r>
              <a:rPr lang="en-US" dirty="0" err="1"/>
              <a:t>setelah</a:t>
            </a:r>
            <a:r>
              <a:rPr lang="en-US" dirty="0"/>
              <a:t> </a:t>
            </a:r>
            <a:r>
              <a:rPr lang="en-US" dirty="0" err="1"/>
              <a:t>melakukan</a:t>
            </a:r>
            <a:r>
              <a:rPr lang="en-US" dirty="0"/>
              <a:t> </a:t>
            </a:r>
            <a:r>
              <a:rPr lang="en-US" dirty="0" err="1"/>
              <a:t>imputasi</a:t>
            </a:r>
            <a:r>
              <a:rPr lang="en-US" dirty="0"/>
              <a:t> data	</a:t>
            </a:r>
          </a:p>
        </p:txBody>
      </p:sp>
      <p:sp>
        <p:nvSpPr>
          <p:cNvPr id="3" name="Slide Number Placeholder 2">
            <a:extLst>
              <a:ext uri="{FF2B5EF4-FFF2-40B4-BE49-F238E27FC236}">
                <a16:creationId xmlns:a16="http://schemas.microsoft.com/office/drawing/2014/main" id="{774AF259-0EA0-486A-A345-68549DF558C8}"/>
              </a:ext>
            </a:extLst>
          </p:cNvPr>
          <p:cNvSpPr>
            <a:spLocks noGrp="1"/>
          </p:cNvSpPr>
          <p:nvPr>
            <p:ph type="sldNum" sz="quarter" idx="12"/>
          </p:nvPr>
        </p:nvSpPr>
        <p:spPr/>
        <p:txBody>
          <a:bodyPr/>
          <a:lstStyle/>
          <a:p>
            <a:fld id="{03DC2DEF-D2FE-4B45-ABA4-9F153FD1C98A}" type="slidenum">
              <a:rPr lang="en-US" smtClean="0"/>
              <a:t>11</a:t>
            </a:fld>
            <a:endParaRPr lang="en-US" dirty="0"/>
          </a:p>
        </p:txBody>
      </p:sp>
      <p:pic>
        <p:nvPicPr>
          <p:cNvPr id="13" name="Picture 12">
            <a:extLst>
              <a:ext uri="{FF2B5EF4-FFF2-40B4-BE49-F238E27FC236}">
                <a16:creationId xmlns:a16="http://schemas.microsoft.com/office/drawing/2014/main" id="{FA712BFA-D54C-3D97-6176-9149C78D10CD}"/>
              </a:ext>
            </a:extLst>
          </p:cNvPr>
          <p:cNvPicPr>
            <a:picLocks noChangeAspect="1"/>
          </p:cNvPicPr>
          <p:nvPr/>
        </p:nvPicPr>
        <p:blipFill>
          <a:blip r:embed="rId2"/>
          <a:stretch>
            <a:fillRect/>
          </a:stretch>
        </p:blipFill>
        <p:spPr>
          <a:xfrm>
            <a:off x="8225260" y="2505466"/>
            <a:ext cx="3544370" cy="2845844"/>
          </a:xfrm>
          <a:prstGeom prst="rect">
            <a:avLst/>
          </a:prstGeom>
        </p:spPr>
      </p:pic>
      <p:pic>
        <p:nvPicPr>
          <p:cNvPr id="4" name="Picture 3">
            <a:extLst>
              <a:ext uri="{FF2B5EF4-FFF2-40B4-BE49-F238E27FC236}">
                <a16:creationId xmlns:a16="http://schemas.microsoft.com/office/drawing/2014/main" id="{F84BE50A-7A2A-3B8D-04B4-B44417E8E5CF}"/>
              </a:ext>
            </a:extLst>
          </p:cNvPr>
          <p:cNvPicPr>
            <a:picLocks noChangeAspect="1"/>
          </p:cNvPicPr>
          <p:nvPr/>
        </p:nvPicPr>
        <p:blipFill>
          <a:blip r:embed="rId3"/>
          <a:stretch>
            <a:fillRect/>
          </a:stretch>
        </p:blipFill>
        <p:spPr>
          <a:xfrm>
            <a:off x="4208422" y="1399438"/>
            <a:ext cx="3775156" cy="4758269"/>
          </a:xfrm>
          <a:prstGeom prst="rect">
            <a:avLst/>
          </a:prstGeom>
        </p:spPr>
      </p:pic>
    </p:spTree>
    <p:extLst>
      <p:ext uri="{BB962C8B-B14F-4D97-AF65-F5344CB8AC3E}">
        <p14:creationId xmlns:p14="http://schemas.microsoft.com/office/powerpoint/2010/main" val="3242389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98282-DF09-084D-F3A5-5E6F4CF1C455}"/>
              </a:ext>
            </a:extLst>
          </p:cNvPr>
          <p:cNvSpPr>
            <a:spLocks noGrp="1"/>
          </p:cNvSpPr>
          <p:nvPr>
            <p:ph type="title"/>
          </p:nvPr>
        </p:nvSpPr>
        <p:spPr/>
        <p:txBody>
          <a:bodyPr/>
          <a:lstStyle/>
          <a:p>
            <a:pPr algn="ctr"/>
            <a:r>
              <a:rPr lang="en-GB" dirty="0" err="1"/>
              <a:t>Imputasi</a:t>
            </a:r>
            <a:r>
              <a:rPr lang="en-GB" dirty="0"/>
              <a:t> Missing Value</a:t>
            </a:r>
            <a:endParaRPr lang="en-ID" dirty="0"/>
          </a:p>
        </p:txBody>
      </p:sp>
      <p:sp>
        <p:nvSpPr>
          <p:cNvPr id="3" name="Content Placeholder 2">
            <a:extLst>
              <a:ext uri="{FF2B5EF4-FFF2-40B4-BE49-F238E27FC236}">
                <a16:creationId xmlns:a16="http://schemas.microsoft.com/office/drawing/2014/main" id="{A0045992-D062-0BC7-544E-26BBE1A53606}"/>
              </a:ext>
            </a:extLst>
          </p:cNvPr>
          <p:cNvSpPr>
            <a:spLocks noGrp="1"/>
          </p:cNvSpPr>
          <p:nvPr>
            <p:ph idx="1"/>
          </p:nvPr>
        </p:nvSpPr>
        <p:spPr/>
        <p:txBody>
          <a:bodyPr/>
          <a:lstStyle/>
          <a:p>
            <a:endParaRPr lang="en-ID"/>
          </a:p>
        </p:txBody>
      </p:sp>
      <p:sp>
        <p:nvSpPr>
          <p:cNvPr id="4" name="Slide Number Placeholder 3">
            <a:extLst>
              <a:ext uri="{FF2B5EF4-FFF2-40B4-BE49-F238E27FC236}">
                <a16:creationId xmlns:a16="http://schemas.microsoft.com/office/drawing/2014/main" id="{04738D86-F102-8F9D-1088-846629EDB5A5}"/>
              </a:ext>
            </a:extLst>
          </p:cNvPr>
          <p:cNvSpPr>
            <a:spLocks noGrp="1"/>
          </p:cNvSpPr>
          <p:nvPr>
            <p:ph type="sldNum" sz="quarter" idx="12"/>
          </p:nvPr>
        </p:nvSpPr>
        <p:spPr/>
        <p:txBody>
          <a:bodyPr/>
          <a:lstStyle/>
          <a:p>
            <a:fld id="{03DC2DEF-D2FE-4B45-ABA4-9F153FD1C98A}" type="slidenum">
              <a:rPr lang="en-US" noProof="0" smtClean="0"/>
              <a:t>12</a:t>
            </a:fld>
            <a:endParaRPr lang="en-US" noProof="0" dirty="0"/>
          </a:p>
        </p:txBody>
      </p:sp>
      <p:sp>
        <p:nvSpPr>
          <p:cNvPr id="6" name="Picture Placeholder 5">
            <a:extLst>
              <a:ext uri="{FF2B5EF4-FFF2-40B4-BE49-F238E27FC236}">
                <a16:creationId xmlns:a16="http://schemas.microsoft.com/office/drawing/2014/main" id="{D40A5583-D835-7DD6-638C-0065A9C83070}"/>
              </a:ext>
            </a:extLst>
          </p:cNvPr>
          <p:cNvSpPr>
            <a:spLocks noGrp="1"/>
          </p:cNvSpPr>
          <p:nvPr>
            <p:ph type="pic" sz="quarter" idx="11"/>
          </p:nvPr>
        </p:nvSpPr>
        <p:spPr/>
        <p:txBody>
          <a:bodyPr/>
          <a:lstStyle/>
          <a:p>
            <a:endParaRPr lang="en-ID"/>
          </a:p>
        </p:txBody>
      </p:sp>
      <p:pic>
        <p:nvPicPr>
          <p:cNvPr id="13" name="Picture 12">
            <a:extLst>
              <a:ext uri="{FF2B5EF4-FFF2-40B4-BE49-F238E27FC236}">
                <a16:creationId xmlns:a16="http://schemas.microsoft.com/office/drawing/2014/main" id="{69AA5C86-AE78-13F1-2AC7-E7F32389F8A7}"/>
              </a:ext>
            </a:extLst>
          </p:cNvPr>
          <p:cNvPicPr>
            <a:picLocks noChangeAspect="1"/>
          </p:cNvPicPr>
          <p:nvPr/>
        </p:nvPicPr>
        <p:blipFill>
          <a:blip r:embed="rId2"/>
          <a:stretch>
            <a:fillRect/>
          </a:stretch>
        </p:blipFill>
        <p:spPr>
          <a:xfrm>
            <a:off x="371475" y="2603500"/>
            <a:ext cx="5536820" cy="3598863"/>
          </a:xfrm>
          <a:prstGeom prst="rect">
            <a:avLst/>
          </a:prstGeom>
        </p:spPr>
      </p:pic>
      <p:pic>
        <p:nvPicPr>
          <p:cNvPr id="15" name="Picture 14">
            <a:extLst>
              <a:ext uri="{FF2B5EF4-FFF2-40B4-BE49-F238E27FC236}">
                <a16:creationId xmlns:a16="http://schemas.microsoft.com/office/drawing/2014/main" id="{12D4568F-B489-77B0-F10A-B75507166591}"/>
              </a:ext>
            </a:extLst>
          </p:cNvPr>
          <p:cNvPicPr>
            <a:picLocks noChangeAspect="1"/>
          </p:cNvPicPr>
          <p:nvPr/>
        </p:nvPicPr>
        <p:blipFill>
          <a:blip r:embed="rId3"/>
          <a:stretch>
            <a:fillRect/>
          </a:stretch>
        </p:blipFill>
        <p:spPr>
          <a:xfrm>
            <a:off x="6498425" y="3447143"/>
            <a:ext cx="2700738" cy="2729820"/>
          </a:xfrm>
          <a:prstGeom prst="rect">
            <a:avLst/>
          </a:prstGeom>
        </p:spPr>
      </p:pic>
    </p:spTree>
    <p:extLst>
      <p:ext uri="{BB962C8B-B14F-4D97-AF65-F5344CB8AC3E}">
        <p14:creationId xmlns:p14="http://schemas.microsoft.com/office/powerpoint/2010/main" val="3427523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68EA4-A5E3-8BFA-6B62-C3C87115BBAE}"/>
              </a:ext>
            </a:extLst>
          </p:cNvPr>
          <p:cNvSpPr>
            <a:spLocks noGrp="1"/>
          </p:cNvSpPr>
          <p:nvPr>
            <p:ph type="ctrTitle"/>
          </p:nvPr>
        </p:nvSpPr>
        <p:spPr/>
        <p:txBody>
          <a:bodyPr/>
          <a:lstStyle/>
          <a:p>
            <a:r>
              <a:rPr lang="en-GB" dirty="0"/>
              <a:t>Cross Check Outlier </a:t>
            </a:r>
            <a:endParaRPr lang="en-ID" dirty="0"/>
          </a:p>
        </p:txBody>
      </p:sp>
      <p:sp>
        <p:nvSpPr>
          <p:cNvPr id="4" name="Subtitle 3">
            <a:extLst>
              <a:ext uri="{FF2B5EF4-FFF2-40B4-BE49-F238E27FC236}">
                <a16:creationId xmlns:a16="http://schemas.microsoft.com/office/drawing/2014/main" id="{FD8B2A70-3BA3-F588-04AA-A52B134F1002}"/>
              </a:ext>
            </a:extLst>
          </p:cNvPr>
          <p:cNvSpPr>
            <a:spLocks noGrp="1"/>
          </p:cNvSpPr>
          <p:nvPr>
            <p:ph type="subTitle" idx="1"/>
          </p:nvPr>
        </p:nvSpPr>
        <p:spPr/>
        <p:txBody>
          <a:bodyPr>
            <a:normAutofit fontScale="85000" lnSpcReduction="20000"/>
          </a:bodyPr>
          <a:lstStyle/>
          <a:p>
            <a:r>
              <a:rPr lang="en-GB" dirty="0"/>
              <a:t>Dari grafik </a:t>
            </a:r>
            <a:r>
              <a:rPr lang="en-GB" dirty="0" err="1"/>
              <a:t>terlihat</a:t>
            </a:r>
            <a:r>
              <a:rPr lang="en-GB" dirty="0"/>
              <a:t> </a:t>
            </a:r>
            <a:r>
              <a:rPr lang="en-GB" dirty="0" err="1"/>
              <a:t>bahwa</a:t>
            </a:r>
            <a:r>
              <a:rPr lang="en-GB" dirty="0"/>
              <a:t> </a:t>
            </a:r>
            <a:r>
              <a:rPr lang="en-GB" dirty="0" err="1"/>
              <a:t>hampir</a:t>
            </a:r>
            <a:r>
              <a:rPr lang="en-GB" dirty="0"/>
              <a:t> </a:t>
            </a:r>
            <a:r>
              <a:rPr lang="en-GB" dirty="0" err="1"/>
              <a:t>seluruh</a:t>
            </a:r>
            <a:r>
              <a:rPr lang="en-GB" dirty="0"/>
              <a:t> feature </a:t>
            </a:r>
            <a:r>
              <a:rPr lang="en-GB" dirty="0" err="1"/>
              <a:t>memiliki</a:t>
            </a:r>
            <a:r>
              <a:rPr lang="en-GB" dirty="0"/>
              <a:t> </a:t>
            </a:r>
            <a:r>
              <a:rPr lang="en-GB" dirty="0" err="1"/>
              <a:t>nilai</a:t>
            </a:r>
            <a:r>
              <a:rPr lang="en-GB" dirty="0"/>
              <a:t> outlier, </a:t>
            </a:r>
            <a:r>
              <a:rPr lang="en-GB" dirty="0" err="1"/>
              <a:t>maka</a:t>
            </a:r>
            <a:r>
              <a:rPr lang="en-GB" dirty="0"/>
              <a:t> dengan itu </a:t>
            </a:r>
            <a:r>
              <a:rPr lang="en-GB" dirty="0" err="1"/>
              <a:t>saya</a:t>
            </a:r>
            <a:r>
              <a:rPr lang="en-GB" dirty="0"/>
              <a:t> </a:t>
            </a:r>
            <a:r>
              <a:rPr lang="en-GB" dirty="0" err="1"/>
              <a:t>menghandle</a:t>
            </a:r>
            <a:r>
              <a:rPr lang="en-GB" dirty="0"/>
              <a:t> outlier menggunakan Z-score.</a:t>
            </a:r>
            <a:endParaRPr lang="en-ID" dirty="0"/>
          </a:p>
        </p:txBody>
      </p:sp>
      <p:sp>
        <p:nvSpPr>
          <p:cNvPr id="8" name="Picture Placeholder 7">
            <a:extLst>
              <a:ext uri="{FF2B5EF4-FFF2-40B4-BE49-F238E27FC236}">
                <a16:creationId xmlns:a16="http://schemas.microsoft.com/office/drawing/2014/main" id="{F81C233A-30E8-E047-F6B6-3360B225DFE0}"/>
              </a:ext>
            </a:extLst>
          </p:cNvPr>
          <p:cNvSpPr>
            <a:spLocks noGrp="1"/>
          </p:cNvSpPr>
          <p:nvPr>
            <p:ph type="pic" sz="quarter" idx="10"/>
          </p:nvPr>
        </p:nvSpPr>
        <p:spPr/>
        <p:txBody>
          <a:bodyPr/>
          <a:lstStyle/>
          <a:p>
            <a:endParaRPr lang="en-ID" dirty="0"/>
          </a:p>
        </p:txBody>
      </p:sp>
      <p:pic>
        <p:nvPicPr>
          <p:cNvPr id="14" name="Picture 13">
            <a:extLst>
              <a:ext uri="{FF2B5EF4-FFF2-40B4-BE49-F238E27FC236}">
                <a16:creationId xmlns:a16="http://schemas.microsoft.com/office/drawing/2014/main" id="{2A1CE399-AA2D-B2A8-D06E-58726BFEAE93}"/>
              </a:ext>
            </a:extLst>
          </p:cNvPr>
          <p:cNvPicPr>
            <a:picLocks noChangeAspect="1"/>
          </p:cNvPicPr>
          <p:nvPr/>
        </p:nvPicPr>
        <p:blipFill>
          <a:blip r:embed="rId2"/>
          <a:stretch>
            <a:fillRect/>
          </a:stretch>
        </p:blipFill>
        <p:spPr>
          <a:xfrm>
            <a:off x="1660072" y="36286"/>
            <a:ext cx="3704254" cy="6821714"/>
          </a:xfrm>
          <a:prstGeom prst="rect">
            <a:avLst/>
          </a:prstGeom>
        </p:spPr>
      </p:pic>
    </p:spTree>
    <p:extLst>
      <p:ext uri="{BB962C8B-B14F-4D97-AF65-F5344CB8AC3E}">
        <p14:creationId xmlns:p14="http://schemas.microsoft.com/office/powerpoint/2010/main" val="1109032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1278B3F-1D0B-EBC0-316F-47B385413127}"/>
              </a:ext>
            </a:extLst>
          </p:cNvPr>
          <p:cNvSpPr>
            <a:spLocks noGrp="1"/>
          </p:cNvSpPr>
          <p:nvPr>
            <p:ph type="pic" sz="quarter" idx="13"/>
          </p:nvPr>
        </p:nvSpPr>
        <p:spPr/>
        <p:txBody>
          <a:bodyPr/>
          <a:lstStyle/>
          <a:p>
            <a:endParaRPr lang="en-ID"/>
          </a:p>
        </p:txBody>
      </p:sp>
      <p:pic>
        <p:nvPicPr>
          <p:cNvPr id="5" name="Picture 4">
            <a:extLst>
              <a:ext uri="{FF2B5EF4-FFF2-40B4-BE49-F238E27FC236}">
                <a16:creationId xmlns:a16="http://schemas.microsoft.com/office/drawing/2014/main" id="{68406FE8-ECC3-0A7A-7452-554842F5A8C2}"/>
              </a:ext>
            </a:extLst>
          </p:cNvPr>
          <p:cNvPicPr>
            <a:picLocks noChangeAspect="1"/>
          </p:cNvPicPr>
          <p:nvPr/>
        </p:nvPicPr>
        <p:blipFill>
          <a:blip r:embed="rId2"/>
          <a:stretch>
            <a:fillRect/>
          </a:stretch>
        </p:blipFill>
        <p:spPr>
          <a:xfrm>
            <a:off x="0" y="2435338"/>
            <a:ext cx="12245792" cy="2165691"/>
          </a:xfrm>
          <a:prstGeom prst="rect">
            <a:avLst/>
          </a:prstGeom>
        </p:spPr>
      </p:pic>
    </p:spTree>
    <p:extLst>
      <p:ext uri="{BB962C8B-B14F-4D97-AF65-F5344CB8AC3E}">
        <p14:creationId xmlns:p14="http://schemas.microsoft.com/office/powerpoint/2010/main" val="2516702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03981D2-2AFC-F5D4-D859-ECA828DB7189}"/>
              </a:ext>
            </a:extLst>
          </p:cNvPr>
          <p:cNvSpPr>
            <a:spLocks noGrp="1"/>
          </p:cNvSpPr>
          <p:nvPr>
            <p:ph type="pic" sz="quarter" idx="10"/>
          </p:nvPr>
        </p:nvSpPr>
        <p:spPr/>
        <p:txBody>
          <a:bodyPr/>
          <a:lstStyle/>
          <a:p>
            <a:endParaRPr lang="en-ID"/>
          </a:p>
        </p:txBody>
      </p:sp>
      <p:sp>
        <p:nvSpPr>
          <p:cNvPr id="3" name="Title 2">
            <a:extLst>
              <a:ext uri="{FF2B5EF4-FFF2-40B4-BE49-F238E27FC236}">
                <a16:creationId xmlns:a16="http://schemas.microsoft.com/office/drawing/2014/main" id="{B78D40B5-5D0E-77EF-AA96-599CDB237C81}"/>
              </a:ext>
            </a:extLst>
          </p:cNvPr>
          <p:cNvSpPr>
            <a:spLocks noGrp="1"/>
          </p:cNvSpPr>
          <p:nvPr>
            <p:ph type="ctrTitle"/>
          </p:nvPr>
        </p:nvSpPr>
        <p:spPr/>
        <p:txBody>
          <a:bodyPr/>
          <a:lstStyle/>
          <a:p>
            <a:pPr algn="ctr"/>
            <a:r>
              <a:rPr lang="en-GB" dirty="0"/>
              <a:t>Label Encoding </a:t>
            </a:r>
            <a:endParaRPr lang="en-ID" dirty="0"/>
          </a:p>
        </p:txBody>
      </p:sp>
      <p:sp>
        <p:nvSpPr>
          <p:cNvPr id="4" name="Subtitle 3">
            <a:extLst>
              <a:ext uri="{FF2B5EF4-FFF2-40B4-BE49-F238E27FC236}">
                <a16:creationId xmlns:a16="http://schemas.microsoft.com/office/drawing/2014/main" id="{97581DB1-6CDD-B231-862D-DD6817699290}"/>
              </a:ext>
            </a:extLst>
          </p:cNvPr>
          <p:cNvSpPr>
            <a:spLocks noGrp="1"/>
          </p:cNvSpPr>
          <p:nvPr>
            <p:ph type="subTitle" idx="1"/>
          </p:nvPr>
        </p:nvSpPr>
        <p:spPr/>
        <p:txBody>
          <a:bodyPr>
            <a:normAutofit fontScale="85000" lnSpcReduction="10000"/>
          </a:bodyPr>
          <a:lstStyle/>
          <a:p>
            <a:r>
              <a:rPr lang="en-GB" dirty="0"/>
              <a:t>Saya melakukan label encoding pada data </a:t>
            </a:r>
            <a:r>
              <a:rPr lang="en-GB" dirty="0" err="1"/>
              <a:t>bertipe</a:t>
            </a:r>
            <a:r>
              <a:rPr lang="en-GB" dirty="0"/>
              <a:t> </a:t>
            </a:r>
            <a:r>
              <a:rPr lang="en-GB" dirty="0" err="1"/>
              <a:t>kategorikan</a:t>
            </a:r>
            <a:r>
              <a:rPr lang="en-GB" dirty="0"/>
              <a:t>. Untuk </a:t>
            </a:r>
            <a:r>
              <a:rPr lang="en-GB" dirty="0" err="1"/>
              <a:t>kodingan</a:t>
            </a:r>
            <a:r>
              <a:rPr lang="en-GB" dirty="0"/>
              <a:t> </a:t>
            </a:r>
            <a:r>
              <a:rPr lang="en-GB" dirty="0" err="1"/>
              <a:t>lengkapnya</a:t>
            </a:r>
            <a:r>
              <a:rPr lang="en-GB" dirty="0"/>
              <a:t> bisa di klik link </a:t>
            </a:r>
            <a:r>
              <a:rPr lang="en-GB" dirty="0" err="1"/>
              <a:t>diakhir</a:t>
            </a:r>
            <a:r>
              <a:rPr lang="en-GB" dirty="0"/>
              <a:t> slide </a:t>
            </a:r>
            <a:endParaRPr lang="en-ID" dirty="0"/>
          </a:p>
        </p:txBody>
      </p:sp>
      <p:pic>
        <p:nvPicPr>
          <p:cNvPr id="7" name="Picture 6">
            <a:extLst>
              <a:ext uri="{FF2B5EF4-FFF2-40B4-BE49-F238E27FC236}">
                <a16:creationId xmlns:a16="http://schemas.microsoft.com/office/drawing/2014/main" id="{1DBB724B-9BC4-6C0F-F38A-9E410526BD6A}"/>
              </a:ext>
            </a:extLst>
          </p:cNvPr>
          <p:cNvPicPr>
            <a:picLocks noChangeAspect="1"/>
          </p:cNvPicPr>
          <p:nvPr/>
        </p:nvPicPr>
        <p:blipFill>
          <a:blip r:embed="rId2"/>
          <a:stretch>
            <a:fillRect/>
          </a:stretch>
        </p:blipFill>
        <p:spPr>
          <a:xfrm>
            <a:off x="5016500" y="472280"/>
            <a:ext cx="7155083" cy="5913438"/>
          </a:xfrm>
          <a:prstGeom prst="rect">
            <a:avLst/>
          </a:prstGeom>
        </p:spPr>
      </p:pic>
    </p:spTree>
    <p:extLst>
      <p:ext uri="{BB962C8B-B14F-4D97-AF65-F5344CB8AC3E}">
        <p14:creationId xmlns:p14="http://schemas.microsoft.com/office/powerpoint/2010/main" val="3790615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9D25-B79B-D364-60F7-072C34AC5670}"/>
              </a:ext>
            </a:extLst>
          </p:cNvPr>
          <p:cNvSpPr>
            <a:spLocks noGrp="1"/>
          </p:cNvSpPr>
          <p:nvPr>
            <p:ph type="title"/>
          </p:nvPr>
        </p:nvSpPr>
        <p:spPr/>
        <p:txBody>
          <a:bodyPr/>
          <a:lstStyle/>
          <a:p>
            <a:r>
              <a:rPr lang="en-GB" dirty="0"/>
              <a:t>Feature Selection</a:t>
            </a:r>
            <a:endParaRPr lang="en-ID" dirty="0"/>
          </a:p>
        </p:txBody>
      </p:sp>
      <p:pic>
        <p:nvPicPr>
          <p:cNvPr id="6" name="Content Placeholder 5">
            <a:extLst>
              <a:ext uri="{FF2B5EF4-FFF2-40B4-BE49-F238E27FC236}">
                <a16:creationId xmlns:a16="http://schemas.microsoft.com/office/drawing/2014/main" id="{23F66BE0-13DA-E0C6-CA9C-B85CCED1D005}"/>
              </a:ext>
            </a:extLst>
          </p:cNvPr>
          <p:cNvPicPr>
            <a:picLocks noGrp="1" noChangeAspect="1"/>
          </p:cNvPicPr>
          <p:nvPr>
            <p:ph idx="1"/>
          </p:nvPr>
        </p:nvPicPr>
        <p:blipFill>
          <a:blip r:embed="rId2"/>
          <a:stretch>
            <a:fillRect/>
          </a:stretch>
        </p:blipFill>
        <p:spPr>
          <a:xfrm>
            <a:off x="805218" y="1019175"/>
            <a:ext cx="6291618" cy="5261874"/>
          </a:xfrm>
        </p:spPr>
      </p:pic>
      <p:sp>
        <p:nvSpPr>
          <p:cNvPr id="4" name="Slide Number Placeholder 3">
            <a:extLst>
              <a:ext uri="{FF2B5EF4-FFF2-40B4-BE49-F238E27FC236}">
                <a16:creationId xmlns:a16="http://schemas.microsoft.com/office/drawing/2014/main" id="{2462FF43-4326-6F1B-8A5C-A17B9E2E1B3A}"/>
              </a:ext>
            </a:extLst>
          </p:cNvPr>
          <p:cNvSpPr>
            <a:spLocks noGrp="1"/>
          </p:cNvSpPr>
          <p:nvPr>
            <p:ph type="sldNum" sz="quarter" idx="12"/>
          </p:nvPr>
        </p:nvSpPr>
        <p:spPr/>
        <p:txBody>
          <a:bodyPr/>
          <a:lstStyle/>
          <a:p>
            <a:fld id="{03DC2DEF-D2FE-4B45-ABA4-9F153FD1C98A}" type="slidenum">
              <a:rPr lang="en-US" smtClean="0"/>
              <a:t>16</a:t>
            </a:fld>
            <a:endParaRPr lang="en-US" dirty="0"/>
          </a:p>
        </p:txBody>
      </p:sp>
      <p:sp>
        <p:nvSpPr>
          <p:cNvPr id="7" name="TextBox 6">
            <a:extLst>
              <a:ext uri="{FF2B5EF4-FFF2-40B4-BE49-F238E27FC236}">
                <a16:creationId xmlns:a16="http://schemas.microsoft.com/office/drawing/2014/main" id="{FC65E160-070A-B133-94FB-963B53CD20AE}"/>
              </a:ext>
            </a:extLst>
          </p:cNvPr>
          <p:cNvSpPr txBox="1"/>
          <p:nvPr/>
        </p:nvSpPr>
        <p:spPr>
          <a:xfrm>
            <a:off x="7096836" y="2828835"/>
            <a:ext cx="4844955" cy="1200329"/>
          </a:xfrm>
          <a:prstGeom prst="rect">
            <a:avLst/>
          </a:prstGeom>
          <a:noFill/>
        </p:spPr>
        <p:txBody>
          <a:bodyPr wrap="square" rtlCol="0">
            <a:spAutoFit/>
          </a:bodyPr>
          <a:lstStyle/>
          <a:p>
            <a:r>
              <a:rPr lang="en-GB" dirty="0"/>
              <a:t>Dalam melakukan feature selection </a:t>
            </a:r>
            <a:r>
              <a:rPr lang="en-GB" dirty="0" err="1"/>
              <a:t>saya</a:t>
            </a:r>
            <a:r>
              <a:rPr lang="en-GB" dirty="0"/>
              <a:t> menggunakan metrics </a:t>
            </a:r>
            <a:r>
              <a:rPr lang="en-GB" dirty="0" err="1"/>
              <a:t>korelasi</a:t>
            </a:r>
            <a:r>
              <a:rPr lang="en-GB" dirty="0"/>
              <a:t> dengan heatmap untuk menentukan feature </a:t>
            </a:r>
            <a:r>
              <a:rPr lang="en-GB" dirty="0" err="1"/>
              <a:t>terbaik</a:t>
            </a:r>
            <a:r>
              <a:rPr lang="en-GB" dirty="0"/>
              <a:t> </a:t>
            </a:r>
            <a:r>
              <a:rPr lang="en-GB" dirty="0" err="1"/>
              <a:t>apa</a:t>
            </a:r>
            <a:r>
              <a:rPr lang="en-GB" dirty="0"/>
              <a:t> saja </a:t>
            </a:r>
            <a:r>
              <a:rPr lang="en-GB" dirty="0" err="1"/>
              <a:t>akan</a:t>
            </a:r>
            <a:r>
              <a:rPr lang="en-GB" dirty="0"/>
              <a:t> </a:t>
            </a:r>
            <a:r>
              <a:rPr lang="en-GB" dirty="0" err="1"/>
              <a:t>digunakan</a:t>
            </a:r>
            <a:r>
              <a:rPr lang="en-GB" dirty="0"/>
              <a:t> dalam proses </a:t>
            </a:r>
            <a:r>
              <a:rPr lang="en-GB" dirty="0" err="1"/>
              <a:t>permodelan</a:t>
            </a:r>
            <a:endParaRPr lang="en-ID" dirty="0"/>
          </a:p>
        </p:txBody>
      </p:sp>
    </p:spTree>
    <p:extLst>
      <p:ext uri="{BB962C8B-B14F-4D97-AF65-F5344CB8AC3E}">
        <p14:creationId xmlns:p14="http://schemas.microsoft.com/office/powerpoint/2010/main" val="3312545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03981D2-2AFC-F5D4-D859-ECA828DB7189}"/>
              </a:ext>
            </a:extLst>
          </p:cNvPr>
          <p:cNvSpPr>
            <a:spLocks noGrp="1"/>
          </p:cNvSpPr>
          <p:nvPr>
            <p:ph type="pic" sz="quarter" idx="10"/>
          </p:nvPr>
        </p:nvSpPr>
        <p:spPr/>
        <p:txBody>
          <a:bodyPr/>
          <a:lstStyle/>
          <a:p>
            <a:endParaRPr lang="en-ID"/>
          </a:p>
        </p:txBody>
      </p:sp>
      <p:sp>
        <p:nvSpPr>
          <p:cNvPr id="3" name="Title 2">
            <a:extLst>
              <a:ext uri="{FF2B5EF4-FFF2-40B4-BE49-F238E27FC236}">
                <a16:creationId xmlns:a16="http://schemas.microsoft.com/office/drawing/2014/main" id="{B78D40B5-5D0E-77EF-AA96-599CDB237C81}"/>
              </a:ext>
            </a:extLst>
          </p:cNvPr>
          <p:cNvSpPr>
            <a:spLocks noGrp="1"/>
          </p:cNvSpPr>
          <p:nvPr>
            <p:ph type="ctrTitle"/>
          </p:nvPr>
        </p:nvSpPr>
        <p:spPr>
          <a:xfrm>
            <a:off x="371476" y="1818032"/>
            <a:ext cx="4416424" cy="2182811"/>
          </a:xfrm>
        </p:spPr>
        <p:txBody>
          <a:bodyPr/>
          <a:lstStyle/>
          <a:p>
            <a:pPr algn="ctr"/>
            <a:r>
              <a:rPr lang="en-GB" dirty="0"/>
              <a:t>Class Imbalance</a:t>
            </a:r>
            <a:endParaRPr lang="en-ID" dirty="0"/>
          </a:p>
        </p:txBody>
      </p:sp>
      <p:sp>
        <p:nvSpPr>
          <p:cNvPr id="4" name="Subtitle 3">
            <a:extLst>
              <a:ext uri="{FF2B5EF4-FFF2-40B4-BE49-F238E27FC236}">
                <a16:creationId xmlns:a16="http://schemas.microsoft.com/office/drawing/2014/main" id="{97581DB1-6CDD-B231-862D-DD6817699290}"/>
              </a:ext>
            </a:extLst>
          </p:cNvPr>
          <p:cNvSpPr>
            <a:spLocks noGrp="1"/>
          </p:cNvSpPr>
          <p:nvPr>
            <p:ph type="subTitle" idx="1"/>
          </p:nvPr>
        </p:nvSpPr>
        <p:spPr>
          <a:xfrm>
            <a:off x="371476" y="4079082"/>
            <a:ext cx="4416424" cy="1973375"/>
          </a:xfrm>
        </p:spPr>
        <p:txBody>
          <a:bodyPr>
            <a:normAutofit fontScale="77500" lnSpcReduction="20000"/>
          </a:bodyPr>
          <a:lstStyle/>
          <a:p>
            <a:r>
              <a:rPr lang="en-GB" dirty="0"/>
              <a:t>Saya melakukan class imbalance pada dataset </a:t>
            </a:r>
            <a:r>
              <a:rPr lang="en-GB" dirty="0" err="1"/>
              <a:t>karena</a:t>
            </a:r>
            <a:r>
              <a:rPr lang="en-GB" dirty="0"/>
              <a:t> </a:t>
            </a:r>
            <a:r>
              <a:rPr lang="en-GB" dirty="0" err="1"/>
              <a:t>terdapat</a:t>
            </a:r>
            <a:r>
              <a:rPr lang="en-GB" dirty="0"/>
              <a:t> </a:t>
            </a:r>
            <a:r>
              <a:rPr lang="en-GB" dirty="0" err="1"/>
              <a:t>ketimpangan</a:t>
            </a:r>
            <a:r>
              <a:rPr lang="en-GB" dirty="0"/>
              <a:t> pada kolom target. Hal ini kurang baik jika tidak </a:t>
            </a:r>
            <a:r>
              <a:rPr lang="en-GB" dirty="0" err="1"/>
              <a:t>tidak</a:t>
            </a:r>
            <a:r>
              <a:rPr lang="en-GB" dirty="0"/>
              <a:t> </a:t>
            </a:r>
            <a:r>
              <a:rPr lang="en-GB" dirty="0" err="1"/>
              <a:t>dihandle</a:t>
            </a:r>
            <a:r>
              <a:rPr lang="en-GB" dirty="0"/>
              <a:t> </a:t>
            </a:r>
            <a:r>
              <a:rPr lang="en-GB" dirty="0" err="1"/>
              <a:t>terlebih</a:t>
            </a:r>
            <a:r>
              <a:rPr lang="en-GB" dirty="0"/>
              <a:t> </a:t>
            </a:r>
            <a:r>
              <a:rPr lang="en-GB" dirty="0" err="1"/>
              <a:t>dahulu</a:t>
            </a:r>
            <a:r>
              <a:rPr lang="en-GB" dirty="0"/>
              <a:t> sebelum di </a:t>
            </a:r>
            <a:r>
              <a:rPr lang="en-GB" dirty="0" err="1"/>
              <a:t>lakukan</a:t>
            </a:r>
            <a:r>
              <a:rPr lang="en-GB" dirty="0"/>
              <a:t> permodelan </a:t>
            </a:r>
            <a:r>
              <a:rPr lang="en-GB" dirty="0" err="1"/>
              <a:t>karena</a:t>
            </a:r>
            <a:r>
              <a:rPr lang="en-GB" dirty="0"/>
              <a:t> dapat </a:t>
            </a:r>
            <a:r>
              <a:rPr lang="en-GB" dirty="0" err="1"/>
              <a:t>mempengaruhi</a:t>
            </a:r>
            <a:r>
              <a:rPr lang="en-GB" dirty="0"/>
              <a:t> hasil </a:t>
            </a:r>
            <a:r>
              <a:rPr lang="en-GB" dirty="0" err="1"/>
              <a:t>evaluasi</a:t>
            </a:r>
            <a:r>
              <a:rPr lang="en-GB" dirty="0"/>
              <a:t> menjadi tidak </a:t>
            </a:r>
            <a:r>
              <a:rPr lang="en-GB" dirty="0" err="1"/>
              <a:t>akurat</a:t>
            </a:r>
            <a:r>
              <a:rPr lang="en-GB" dirty="0"/>
              <a:t>. Pada class imbalance kali ini </a:t>
            </a:r>
            <a:r>
              <a:rPr lang="en-GB" dirty="0" err="1"/>
              <a:t>saya</a:t>
            </a:r>
            <a:r>
              <a:rPr lang="en-GB" dirty="0"/>
              <a:t> menggunakan metode Random </a:t>
            </a:r>
            <a:r>
              <a:rPr lang="en-GB" dirty="0" err="1"/>
              <a:t>undersampling</a:t>
            </a:r>
            <a:r>
              <a:rPr lang="en-GB" dirty="0"/>
              <a:t>.</a:t>
            </a:r>
            <a:endParaRPr lang="en-ID" dirty="0"/>
          </a:p>
        </p:txBody>
      </p:sp>
      <p:pic>
        <p:nvPicPr>
          <p:cNvPr id="6" name="Picture 5">
            <a:extLst>
              <a:ext uri="{FF2B5EF4-FFF2-40B4-BE49-F238E27FC236}">
                <a16:creationId xmlns:a16="http://schemas.microsoft.com/office/drawing/2014/main" id="{9BBD123B-2899-99A5-08EB-AACF54E146CE}"/>
              </a:ext>
            </a:extLst>
          </p:cNvPr>
          <p:cNvPicPr>
            <a:picLocks noChangeAspect="1"/>
          </p:cNvPicPr>
          <p:nvPr/>
        </p:nvPicPr>
        <p:blipFill>
          <a:blip r:embed="rId2"/>
          <a:stretch>
            <a:fillRect/>
          </a:stretch>
        </p:blipFill>
        <p:spPr>
          <a:xfrm>
            <a:off x="5231782" y="2677944"/>
            <a:ext cx="2883517" cy="1502111"/>
          </a:xfrm>
          <a:prstGeom prst="rect">
            <a:avLst/>
          </a:prstGeom>
        </p:spPr>
      </p:pic>
      <p:pic>
        <p:nvPicPr>
          <p:cNvPr id="9" name="Picture 8">
            <a:extLst>
              <a:ext uri="{FF2B5EF4-FFF2-40B4-BE49-F238E27FC236}">
                <a16:creationId xmlns:a16="http://schemas.microsoft.com/office/drawing/2014/main" id="{198348BB-2761-1DF4-FC9D-A2586089E976}"/>
              </a:ext>
            </a:extLst>
          </p:cNvPr>
          <p:cNvPicPr>
            <a:picLocks noChangeAspect="1"/>
          </p:cNvPicPr>
          <p:nvPr/>
        </p:nvPicPr>
        <p:blipFill>
          <a:blip r:embed="rId3"/>
          <a:stretch>
            <a:fillRect/>
          </a:stretch>
        </p:blipFill>
        <p:spPr>
          <a:xfrm>
            <a:off x="8184055" y="580764"/>
            <a:ext cx="3939188" cy="5471694"/>
          </a:xfrm>
          <a:prstGeom prst="rect">
            <a:avLst/>
          </a:prstGeom>
        </p:spPr>
      </p:pic>
    </p:spTree>
    <p:extLst>
      <p:ext uri="{BB962C8B-B14F-4D97-AF65-F5344CB8AC3E}">
        <p14:creationId xmlns:p14="http://schemas.microsoft.com/office/powerpoint/2010/main" val="2644221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a:xfrm>
            <a:off x="876300" y="2841278"/>
            <a:ext cx="10439400" cy="1175444"/>
          </a:xfrm>
        </p:spPr>
        <p:txBody>
          <a:bodyPr>
            <a:noAutofit/>
          </a:bodyPr>
          <a:lstStyle/>
          <a:p>
            <a:pPr rtl="0">
              <a:spcBef>
                <a:spcPts val="0"/>
              </a:spcBef>
              <a:spcAft>
                <a:spcPts val="0"/>
              </a:spcAft>
            </a:pPr>
            <a:r>
              <a:rPr lang="en-US" sz="4600" dirty="0" err="1"/>
              <a:t>Perbandingan</a:t>
            </a:r>
            <a:r>
              <a:rPr lang="en-US" sz="4600" dirty="0"/>
              <a:t> Model Hold Out </a:t>
            </a:r>
            <a:r>
              <a:rPr lang="en-US" sz="4600" dirty="0" err="1"/>
              <a:t>dengan</a:t>
            </a:r>
            <a:r>
              <a:rPr lang="en-US" sz="4600" dirty="0"/>
              <a:t> K-Fold</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p:txBody>
          <a:bodyPr/>
          <a:lstStyle/>
          <a:p>
            <a:fld id="{03DC2DEF-D2FE-4B45-ABA4-9F153FD1C98A}" type="slidenum">
              <a:rPr lang="en-US" smtClean="0"/>
              <a:t>18</a:t>
            </a:fld>
            <a:endParaRPr lang="en-US" dirty="0"/>
          </a:p>
        </p:txBody>
      </p:sp>
    </p:spTree>
    <p:extLst>
      <p:ext uri="{BB962C8B-B14F-4D97-AF65-F5344CB8AC3E}">
        <p14:creationId xmlns:p14="http://schemas.microsoft.com/office/powerpoint/2010/main" val="3022196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61BBD3A0-5479-C212-E9DA-F712163945D8}"/>
              </a:ext>
            </a:extLst>
          </p:cNvPr>
          <p:cNvGraphicFramePr>
            <a:graphicFrameLocks noChangeAspect="1"/>
          </p:cNvGraphicFramePr>
          <p:nvPr>
            <p:extLst>
              <p:ext uri="{D42A27DB-BD31-4B8C-83A1-F6EECF244321}">
                <p14:modId xmlns:p14="http://schemas.microsoft.com/office/powerpoint/2010/main" val="2552924314"/>
              </p:ext>
            </p:extLst>
          </p:nvPr>
        </p:nvGraphicFramePr>
        <p:xfrm>
          <a:off x="2581571" y="920233"/>
          <a:ext cx="7028858" cy="2508767"/>
        </p:xfrm>
        <a:graphic>
          <a:graphicData uri="http://schemas.openxmlformats.org/presentationml/2006/ole">
            <mc:AlternateContent xmlns:mc="http://schemas.openxmlformats.org/markup-compatibility/2006">
              <mc:Choice xmlns:v="urn:schemas-microsoft-com:vml" Requires="v">
                <p:oleObj name="Worksheet" r:id="rId2" imgW="4038752" imgH="1342889" progId="Excel.Sheet.12">
                  <p:embed/>
                </p:oleObj>
              </mc:Choice>
              <mc:Fallback>
                <p:oleObj name="Worksheet" r:id="rId2" imgW="4038752" imgH="1342889" progId="Excel.Sheet.12">
                  <p:embed/>
                  <p:pic>
                    <p:nvPicPr>
                      <p:cNvPr id="9" name="Object 8">
                        <a:extLst>
                          <a:ext uri="{FF2B5EF4-FFF2-40B4-BE49-F238E27FC236}">
                            <a16:creationId xmlns:a16="http://schemas.microsoft.com/office/drawing/2014/main" id="{5B0E3856-E17D-C477-6ED4-AEB47B010D0E}"/>
                          </a:ext>
                        </a:extLst>
                      </p:cNvPr>
                      <p:cNvPicPr/>
                      <p:nvPr/>
                    </p:nvPicPr>
                    <p:blipFill>
                      <a:blip r:embed="rId3"/>
                      <a:stretch>
                        <a:fillRect/>
                      </a:stretch>
                    </p:blipFill>
                    <p:spPr>
                      <a:xfrm>
                        <a:off x="2581571" y="920233"/>
                        <a:ext cx="7028858" cy="2508767"/>
                      </a:xfrm>
                      <a:prstGeom prst="rect">
                        <a:avLst/>
                      </a:prstGeom>
                    </p:spPr>
                  </p:pic>
                </p:oleObj>
              </mc:Fallback>
            </mc:AlternateContent>
          </a:graphicData>
        </a:graphic>
      </p:graphicFrame>
      <p:sp>
        <p:nvSpPr>
          <p:cNvPr id="4" name="Rectangle: Rounded Corners 3">
            <a:extLst>
              <a:ext uri="{FF2B5EF4-FFF2-40B4-BE49-F238E27FC236}">
                <a16:creationId xmlns:a16="http://schemas.microsoft.com/office/drawing/2014/main" id="{444ECF4E-B0EC-FA3F-AF74-7ABD601A1765}"/>
              </a:ext>
            </a:extLst>
          </p:cNvPr>
          <p:cNvSpPr/>
          <p:nvPr/>
        </p:nvSpPr>
        <p:spPr>
          <a:xfrm>
            <a:off x="2384881" y="3698541"/>
            <a:ext cx="7422238" cy="25087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Setelah melakukan </a:t>
            </a:r>
            <a:r>
              <a:rPr lang="en-GB" dirty="0" err="1"/>
              <a:t>bebrapa</a:t>
            </a:r>
            <a:r>
              <a:rPr lang="en-GB" dirty="0"/>
              <a:t> </a:t>
            </a:r>
            <a:r>
              <a:rPr lang="en-GB" dirty="0" err="1"/>
              <a:t>perbandingan</a:t>
            </a:r>
            <a:r>
              <a:rPr lang="en-GB" dirty="0"/>
              <a:t> baik menggunakan model validation hold out dan K-fold. Ternyata model yang menggunakan cross validation dengan k-fold </a:t>
            </a:r>
            <a:r>
              <a:rPr lang="en-GB" dirty="0" err="1"/>
              <a:t>performanya</a:t>
            </a:r>
            <a:r>
              <a:rPr lang="en-GB" dirty="0"/>
              <a:t> lebih baik </a:t>
            </a:r>
            <a:r>
              <a:rPr lang="en-GB" dirty="0" err="1"/>
              <a:t>dibanding</a:t>
            </a:r>
            <a:r>
              <a:rPr lang="en-GB" dirty="0"/>
              <a:t> dengan menggunakan hold out. Hal ini </a:t>
            </a:r>
            <a:r>
              <a:rPr lang="en-GB" dirty="0" err="1"/>
              <a:t>dikarena</a:t>
            </a:r>
            <a:r>
              <a:rPr lang="en-GB" dirty="0"/>
              <a:t> </a:t>
            </a:r>
            <a:r>
              <a:rPr lang="en-GB" dirty="0" err="1"/>
              <a:t>kan</a:t>
            </a:r>
            <a:r>
              <a:rPr lang="en-GB" dirty="0"/>
              <a:t> </a:t>
            </a:r>
            <a:r>
              <a:rPr lang="en-GB" dirty="0" err="1"/>
              <a:t>pembagian</a:t>
            </a:r>
            <a:r>
              <a:rPr lang="en-GB" dirty="0"/>
              <a:t> dataset yang kurang </a:t>
            </a:r>
            <a:r>
              <a:rPr lang="en-GB" dirty="0" err="1"/>
              <a:t>merata</a:t>
            </a:r>
            <a:r>
              <a:rPr lang="en-GB" dirty="0"/>
              <a:t> dengan menggunakan validation hold out. Sedangkan menggunakan K-Fold dataset </a:t>
            </a:r>
            <a:r>
              <a:rPr lang="en-GB" dirty="0" err="1"/>
              <a:t>dibagi</a:t>
            </a:r>
            <a:r>
              <a:rPr lang="en-GB" dirty="0"/>
              <a:t> dengan </a:t>
            </a:r>
            <a:r>
              <a:rPr lang="en-GB" dirty="0" err="1"/>
              <a:t>cara</a:t>
            </a:r>
            <a:r>
              <a:rPr lang="en-GB" dirty="0"/>
              <a:t> </a:t>
            </a:r>
            <a:r>
              <a:rPr lang="en-GB" dirty="0" err="1"/>
              <a:t>validasi</a:t>
            </a:r>
            <a:r>
              <a:rPr lang="en-GB" dirty="0"/>
              <a:t> </a:t>
            </a:r>
            <a:r>
              <a:rPr lang="en-GB" dirty="0" err="1"/>
              <a:t>silang</a:t>
            </a:r>
            <a:r>
              <a:rPr lang="en-GB" dirty="0"/>
              <a:t> yang </a:t>
            </a:r>
            <a:r>
              <a:rPr lang="en-GB" dirty="0" err="1"/>
              <a:t>atinya</a:t>
            </a:r>
            <a:r>
              <a:rPr lang="en-GB" dirty="0"/>
              <a:t> train set dan test set </a:t>
            </a:r>
            <a:r>
              <a:rPr lang="en-GB" dirty="0" err="1"/>
              <a:t>akan</a:t>
            </a:r>
            <a:r>
              <a:rPr lang="en-GB" dirty="0"/>
              <a:t> </a:t>
            </a:r>
            <a:r>
              <a:rPr lang="en-GB" dirty="0" err="1"/>
              <a:t>selalu</a:t>
            </a:r>
            <a:r>
              <a:rPr lang="en-GB" dirty="0"/>
              <a:t> </a:t>
            </a:r>
            <a:r>
              <a:rPr lang="en-GB" dirty="0" err="1"/>
              <a:t>berubah</a:t>
            </a:r>
            <a:r>
              <a:rPr lang="en-GB" dirty="0"/>
              <a:t> dalam </a:t>
            </a:r>
            <a:r>
              <a:rPr lang="en-GB" dirty="0" err="1"/>
              <a:t>tiap</a:t>
            </a:r>
            <a:r>
              <a:rPr lang="en-GB" dirty="0"/>
              <a:t> </a:t>
            </a:r>
            <a:r>
              <a:rPr lang="en-GB" dirty="0" err="1"/>
              <a:t>iterasi</a:t>
            </a:r>
            <a:r>
              <a:rPr lang="en-GB" dirty="0"/>
              <a:t> dan </a:t>
            </a:r>
            <a:r>
              <a:rPr lang="en-GB" dirty="0" err="1"/>
              <a:t>dibagi</a:t>
            </a:r>
            <a:r>
              <a:rPr lang="en-GB" dirty="0"/>
              <a:t> dalam bentuk </a:t>
            </a:r>
            <a:r>
              <a:rPr lang="en-GB" dirty="0" err="1"/>
              <a:t>persentase</a:t>
            </a:r>
            <a:r>
              <a:rPr lang="en-GB" dirty="0"/>
              <a:t>. Dengan model </a:t>
            </a:r>
            <a:r>
              <a:rPr lang="en-GB" dirty="0" err="1"/>
              <a:t>validasi</a:t>
            </a:r>
            <a:r>
              <a:rPr lang="en-GB" dirty="0"/>
              <a:t> ini juga </a:t>
            </a:r>
            <a:r>
              <a:rPr lang="en-GB" dirty="0" err="1"/>
              <a:t>efektif</a:t>
            </a:r>
            <a:r>
              <a:rPr lang="en-GB" dirty="0"/>
              <a:t> untuk </a:t>
            </a:r>
            <a:r>
              <a:rPr lang="en-GB" dirty="0" err="1"/>
              <a:t>menghindari</a:t>
            </a:r>
            <a:r>
              <a:rPr lang="en-GB" dirty="0"/>
              <a:t> </a:t>
            </a:r>
            <a:r>
              <a:rPr lang="en-GB" dirty="0" err="1"/>
              <a:t>terjadinya</a:t>
            </a:r>
            <a:r>
              <a:rPr lang="en-GB" dirty="0"/>
              <a:t> overfitting.</a:t>
            </a:r>
            <a:endParaRPr lang="en-ID" dirty="0"/>
          </a:p>
        </p:txBody>
      </p:sp>
    </p:spTree>
    <p:extLst>
      <p:ext uri="{BB962C8B-B14F-4D97-AF65-F5344CB8AC3E}">
        <p14:creationId xmlns:p14="http://schemas.microsoft.com/office/powerpoint/2010/main" val="3468220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7A38FB-3BB9-C56C-8515-19031B4047DA}"/>
              </a:ext>
            </a:extLst>
          </p:cNvPr>
          <p:cNvSpPr>
            <a:spLocks noGrp="1"/>
          </p:cNvSpPr>
          <p:nvPr>
            <p:ph type="ctrTitle"/>
          </p:nvPr>
        </p:nvSpPr>
        <p:spPr>
          <a:xfrm>
            <a:off x="371476" y="1779589"/>
            <a:ext cx="4416424" cy="1523169"/>
          </a:xfrm>
        </p:spPr>
        <p:txBody>
          <a:bodyPr>
            <a:normAutofit/>
          </a:bodyPr>
          <a:lstStyle/>
          <a:p>
            <a:pPr algn="ctr"/>
            <a:r>
              <a:rPr lang="en-GB" sz="3200" dirty="0" err="1"/>
              <a:t>Perbandingan</a:t>
            </a:r>
            <a:r>
              <a:rPr lang="en-GB" sz="3200" dirty="0"/>
              <a:t> Hasil Baseline dengan Model </a:t>
            </a:r>
            <a:r>
              <a:rPr lang="en-GB" sz="3200" dirty="0" err="1"/>
              <a:t>terbaik</a:t>
            </a:r>
            <a:endParaRPr lang="en-ID" sz="3200" dirty="0"/>
          </a:p>
        </p:txBody>
      </p:sp>
      <p:sp>
        <p:nvSpPr>
          <p:cNvPr id="4" name="Subtitle 3">
            <a:extLst>
              <a:ext uri="{FF2B5EF4-FFF2-40B4-BE49-F238E27FC236}">
                <a16:creationId xmlns:a16="http://schemas.microsoft.com/office/drawing/2014/main" id="{B94BC1FB-80C2-EDE8-FF24-488D08B61588}"/>
              </a:ext>
            </a:extLst>
          </p:cNvPr>
          <p:cNvSpPr>
            <a:spLocks noGrp="1"/>
          </p:cNvSpPr>
          <p:nvPr>
            <p:ph type="subTitle" idx="1"/>
          </p:nvPr>
        </p:nvSpPr>
        <p:spPr/>
        <p:txBody>
          <a:bodyPr>
            <a:normAutofit fontScale="92500" lnSpcReduction="10000"/>
          </a:bodyPr>
          <a:lstStyle/>
          <a:p>
            <a:r>
              <a:rPr lang="en-GB" dirty="0" err="1"/>
              <a:t>Didapat</a:t>
            </a:r>
            <a:r>
              <a:rPr lang="en-GB" dirty="0"/>
              <a:t> </a:t>
            </a:r>
            <a:r>
              <a:rPr lang="en-GB" dirty="0" err="1"/>
              <a:t>bahwa</a:t>
            </a:r>
            <a:r>
              <a:rPr lang="en-GB" dirty="0"/>
              <a:t> dengan menggunakan model </a:t>
            </a:r>
            <a:r>
              <a:rPr lang="en-GB" dirty="0" err="1"/>
              <a:t>terbaik</a:t>
            </a:r>
            <a:r>
              <a:rPr lang="en-GB" dirty="0"/>
              <a:t> </a:t>
            </a:r>
            <a:r>
              <a:rPr lang="en-GB" dirty="0" err="1"/>
              <a:t>nilai</a:t>
            </a:r>
            <a:r>
              <a:rPr lang="en-GB" dirty="0"/>
              <a:t> </a:t>
            </a:r>
            <a:r>
              <a:rPr lang="en-GB" dirty="0" err="1"/>
              <a:t>akurasi</a:t>
            </a:r>
            <a:r>
              <a:rPr lang="en-GB" dirty="0"/>
              <a:t> dan f1 score lebih baik </a:t>
            </a:r>
            <a:r>
              <a:rPr lang="en-GB" dirty="0" err="1"/>
              <a:t>sebesar</a:t>
            </a:r>
            <a:r>
              <a:rPr lang="en-GB" dirty="0"/>
              <a:t> 45%</a:t>
            </a:r>
            <a:endParaRPr lang="en-ID" dirty="0"/>
          </a:p>
        </p:txBody>
      </p:sp>
      <p:sp>
        <p:nvSpPr>
          <p:cNvPr id="9" name="Picture Placeholder 8">
            <a:extLst>
              <a:ext uri="{FF2B5EF4-FFF2-40B4-BE49-F238E27FC236}">
                <a16:creationId xmlns:a16="http://schemas.microsoft.com/office/drawing/2014/main" id="{172B0D1C-A748-D1BE-C163-EB567B66AE2B}"/>
              </a:ext>
            </a:extLst>
          </p:cNvPr>
          <p:cNvSpPr>
            <a:spLocks noGrp="1"/>
          </p:cNvSpPr>
          <p:nvPr>
            <p:ph type="pic" sz="quarter" idx="10"/>
          </p:nvPr>
        </p:nvSpPr>
        <p:spPr/>
        <p:txBody>
          <a:bodyPr/>
          <a:lstStyle/>
          <a:p>
            <a:endParaRPr lang="en-ID"/>
          </a:p>
        </p:txBody>
      </p:sp>
      <p:pic>
        <p:nvPicPr>
          <p:cNvPr id="5" name="Picture 4">
            <a:extLst>
              <a:ext uri="{FF2B5EF4-FFF2-40B4-BE49-F238E27FC236}">
                <a16:creationId xmlns:a16="http://schemas.microsoft.com/office/drawing/2014/main" id="{0C4FF772-8BEF-BB26-06BD-D789F686F614}"/>
              </a:ext>
            </a:extLst>
          </p:cNvPr>
          <p:cNvPicPr>
            <a:picLocks noChangeAspect="1"/>
          </p:cNvPicPr>
          <p:nvPr/>
        </p:nvPicPr>
        <p:blipFill>
          <a:blip r:embed="rId2"/>
          <a:stretch>
            <a:fillRect/>
          </a:stretch>
        </p:blipFill>
        <p:spPr>
          <a:xfrm>
            <a:off x="5284787" y="1786414"/>
            <a:ext cx="6638925" cy="3381375"/>
          </a:xfrm>
          <a:prstGeom prst="rect">
            <a:avLst/>
          </a:prstGeom>
        </p:spPr>
      </p:pic>
    </p:spTree>
    <p:extLst>
      <p:ext uri="{BB962C8B-B14F-4D97-AF65-F5344CB8AC3E}">
        <p14:creationId xmlns:p14="http://schemas.microsoft.com/office/powerpoint/2010/main" val="3282186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26453313-3602-D7A8-4754-FD44C953308F}"/>
              </a:ext>
            </a:extLst>
          </p:cNvPr>
          <p:cNvPicPr>
            <a:picLocks noGrp="1" noChangeAspect="1"/>
          </p:cNvPicPr>
          <p:nvPr>
            <p:ph type="pic" sz="quarter" idx="10"/>
          </p:nvPr>
        </p:nvPicPr>
        <p:blipFill>
          <a:blip r:embed="rId2"/>
          <a:srcRect l="16408" r="16408"/>
          <a:stretch>
            <a:fillRect/>
          </a:stretch>
        </p:blipFill>
        <p:spPr>
          <a:xfrm>
            <a:off x="462318" y="177421"/>
            <a:ext cx="6034088" cy="6857999"/>
          </a:xfrm>
          <a:prstGeom prst="rect">
            <a:avLst/>
          </a:prstGeom>
        </p:spPr>
      </p:pic>
      <p:sp>
        <p:nvSpPr>
          <p:cNvPr id="3" name="Title 2">
            <a:extLst>
              <a:ext uri="{FF2B5EF4-FFF2-40B4-BE49-F238E27FC236}">
                <a16:creationId xmlns:a16="http://schemas.microsoft.com/office/drawing/2014/main" id="{54898008-91BD-7D3E-3CBD-7F00DCB5EBEF}"/>
              </a:ext>
            </a:extLst>
          </p:cNvPr>
          <p:cNvSpPr>
            <a:spLocks noGrp="1"/>
          </p:cNvSpPr>
          <p:nvPr>
            <p:ph type="ctrTitle"/>
          </p:nvPr>
        </p:nvSpPr>
        <p:spPr>
          <a:xfrm>
            <a:off x="6905625" y="707671"/>
            <a:ext cx="4986338" cy="752639"/>
          </a:xfrm>
        </p:spPr>
        <p:txBody>
          <a:bodyPr>
            <a:normAutofit/>
          </a:bodyPr>
          <a:lstStyle/>
          <a:p>
            <a:pPr algn="ctr"/>
            <a:r>
              <a:rPr lang="en-GB" sz="3200" dirty="0" err="1"/>
              <a:t>Bussiness</a:t>
            </a:r>
            <a:r>
              <a:rPr lang="en-GB" sz="3200" dirty="0"/>
              <a:t> </a:t>
            </a:r>
            <a:r>
              <a:rPr lang="en-GB" sz="3200" dirty="0" err="1"/>
              <a:t>Recomendation</a:t>
            </a:r>
            <a:endParaRPr lang="en-ID" sz="3200" dirty="0"/>
          </a:p>
        </p:txBody>
      </p:sp>
      <p:sp>
        <p:nvSpPr>
          <p:cNvPr id="4" name="Subtitle 3">
            <a:extLst>
              <a:ext uri="{FF2B5EF4-FFF2-40B4-BE49-F238E27FC236}">
                <a16:creationId xmlns:a16="http://schemas.microsoft.com/office/drawing/2014/main" id="{4CDDD25F-A05A-3873-4C15-95D842499C01}"/>
              </a:ext>
            </a:extLst>
          </p:cNvPr>
          <p:cNvSpPr>
            <a:spLocks noGrp="1"/>
          </p:cNvSpPr>
          <p:nvPr>
            <p:ph type="subTitle" idx="1"/>
          </p:nvPr>
        </p:nvSpPr>
        <p:spPr>
          <a:xfrm>
            <a:off x="6905625" y="1760562"/>
            <a:ext cx="4986338" cy="4143350"/>
          </a:xfrm>
        </p:spPr>
        <p:txBody>
          <a:bodyPr>
            <a:normAutofit fontScale="92500"/>
          </a:bodyPr>
          <a:lstStyle/>
          <a:p>
            <a:pPr marL="342900" indent="-342900">
              <a:buFont typeface="Wingdings" panose="05000000000000000000" pitchFamily="2" charset="2"/>
              <a:buChar char="ü"/>
            </a:pPr>
            <a:r>
              <a:rPr lang="en-GB" dirty="0" err="1"/>
              <a:t>Menyediakan</a:t>
            </a:r>
            <a:r>
              <a:rPr lang="en-GB" dirty="0"/>
              <a:t> </a:t>
            </a:r>
            <a:r>
              <a:rPr lang="en-GB" dirty="0" err="1"/>
              <a:t>layanan</a:t>
            </a:r>
            <a:r>
              <a:rPr lang="en-GB" dirty="0"/>
              <a:t> pinjaman atau </a:t>
            </a:r>
            <a:r>
              <a:rPr lang="en-GB" dirty="0" err="1"/>
              <a:t>kredit</a:t>
            </a:r>
            <a:r>
              <a:rPr lang="en-GB" dirty="0"/>
              <a:t> </a:t>
            </a:r>
            <a:r>
              <a:rPr lang="en-GB" dirty="0" err="1"/>
              <a:t>khusus</a:t>
            </a:r>
            <a:r>
              <a:rPr lang="en-GB" dirty="0"/>
              <a:t> untuk bisnis </a:t>
            </a:r>
            <a:r>
              <a:rPr lang="en-GB" dirty="0" err="1"/>
              <a:t>kecil</a:t>
            </a:r>
            <a:r>
              <a:rPr lang="en-GB" dirty="0"/>
              <a:t>.</a:t>
            </a:r>
          </a:p>
          <a:p>
            <a:pPr marL="342900" indent="-342900">
              <a:buFont typeface="Wingdings" panose="05000000000000000000" pitchFamily="2" charset="2"/>
              <a:buChar char="ü"/>
            </a:pPr>
            <a:r>
              <a:rPr lang="en-GB" dirty="0" err="1"/>
              <a:t>Mengembangkan</a:t>
            </a:r>
            <a:r>
              <a:rPr lang="en-GB" dirty="0"/>
              <a:t> </a:t>
            </a:r>
            <a:r>
              <a:rPr lang="en-GB" dirty="0" err="1"/>
              <a:t>solusi</a:t>
            </a:r>
            <a:r>
              <a:rPr lang="en-GB" dirty="0"/>
              <a:t> atau </a:t>
            </a:r>
            <a:r>
              <a:rPr lang="en-GB" dirty="0" err="1"/>
              <a:t>aplikasi</a:t>
            </a:r>
            <a:r>
              <a:rPr lang="en-GB" dirty="0"/>
              <a:t> fintech yang </a:t>
            </a:r>
            <a:r>
              <a:rPr lang="en-GB" dirty="0" err="1"/>
              <a:t>memanfaatkan</a:t>
            </a:r>
            <a:r>
              <a:rPr lang="en-GB" dirty="0"/>
              <a:t> data </a:t>
            </a:r>
            <a:r>
              <a:rPr lang="en-GB" dirty="0" err="1"/>
              <a:t>kredit</a:t>
            </a:r>
            <a:r>
              <a:rPr lang="en-GB" dirty="0"/>
              <a:t> untuk </a:t>
            </a:r>
            <a:r>
              <a:rPr lang="en-GB" dirty="0" err="1"/>
              <a:t>memberi</a:t>
            </a:r>
            <a:r>
              <a:rPr lang="en-GB" dirty="0"/>
              <a:t> </a:t>
            </a:r>
            <a:r>
              <a:rPr lang="en-GB" dirty="0" err="1"/>
              <a:t>layanan</a:t>
            </a:r>
            <a:r>
              <a:rPr lang="en-GB" dirty="0"/>
              <a:t> seperti </a:t>
            </a:r>
            <a:r>
              <a:rPr lang="en-GB" dirty="0" err="1"/>
              <a:t>manajemen</a:t>
            </a:r>
            <a:r>
              <a:rPr lang="en-GB" dirty="0"/>
              <a:t> </a:t>
            </a:r>
            <a:r>
              <a:rPr lang="en-GB" dirty="0" err="1"/>
              <a:t>keuang</a:t>
            </a:r>
            <a:r>
              <a:rPr lang="en-GB" dirty="0"/>
              <a:t> </a:t>
            </a:r>
            <a:r>
              <a:rPr lang="en-GB" dirty="0" err="1"/>
              <a:t>pribadi</a:t>
            </a:r>
            <a:r>
              <a:rPr lang="en-GB" dirty="0"/>
              <a:t>, </a:t>
            </a:r>
            <a:r>
              <a:rPr lang="en-GB" dirty="0" err="1"/>
              <a:t>pengolahan</a:t>
            </a:r>
            <a:r>
              <a:rPr lang="en-GB" dirty="0"/>
              <a:t> </a:t>
            </a:r>
            <a:r>
              <a:rPr lang="en-GB" dirty="0" err="1"/>
              <a:t>portofolio</a:t>
            </a:r>
            <a:r>
              <a:rPr lang="en-GB" dirty="0"/>
              <a:t> </a:t>
            </a:r>
            <a:r>
              <a:rPr lang="en-GB" dirty="0" err="1"/>
              <a:t>investasi</a:t>
            </a:r>
            <a:r>
              <a:rPr lang="en-ID" dirty="0"/>
              <a:t>.</a:t>
            </a:r>
          </a:p>
          <a:p>
            <a:pPr marL="342900" indent="-342900">
              <a:buFont typeface="Wingdings" panose="05000000000000000000" pitchFamily="2" charset="2"/>
              <a:buChar char="ü"/>
            </a:pPr>
            <a:r>
              <a:rPr lang="en-ID" dirty="0" err="1"/>
              <a:t>Mengembangkan</a:t>
            </a:r>
            <a:r>
              <a:rPr lang="en-ID" dirty="0"/>
              <a:t> </a:t>
            </a:r>
            <a:r>
              <a:rPr lang="en-ID" dirty="0" err="1"/>
              <a:t>platfrom</a:t>
            </a:r>
            <a:r>
              <a:rPr lang="en-ID" dirty="0"/>
              <a:t> peer to peer lending </a:t>
            </a:r>
            <a:r>
              <a:rPr lang="en-ID" dirty="0" err="1"/>
              <a:t>yg</a:t>
            </a:r>
            <a:r>
              <a:rPr lang="en-ID" dirty="0"/>
              <a:t> </a:t>
            </a:r>
            <a:r>
              <a:rPr lang="en-ID" dirty="0" err="1"/>
              <a:t>menggunakan</a:t>
            </a:r>
            <a:r>
              <a:rPr lang="en-ID" dirty="0"/>
              <a:t> Analisa data </a:t>
            </a:r>
            <a:r>
              <a:rPr lang="en-ID" dirty="0" err="1"/>
              <a:t>kredit</a:t>
            </a:r>
            <a:r>
              <a:rPr lang="en-ID" dirty="0"/>
              <a:t> , </a:t>
            </a:r>
            <a:r>
              <a:rPr lang="en-ID" dirty="0" err="1"/>
              <a:t>untuk</a:t>
            </a:r>
            <a:r>
              <a:rPr lang="en-ID" dirty="0"/>
              <a:t> </a:t>
            </a:r>
            <a:r>
              <a:rPr lang="en-ID" dirty="0" err="1"/>
              <a:t>mencocokan</a:t>
            </a:r>
            <a:r>
              <a:rPr lang="en-ID" dirty="0"/>
              <a:t> </a:t>
            </a:r>
            <a:r>
              <a:rPr lang="en-ID" dirty="0" err="1"/>
              <a:t>peminjam</a:t>
            </a:r>
            <a:r>
              <a:rPr lang="en-ID" dirty="0"/>
              <a:t> </a:t>
            </a:r>
            <a:r>
              <a:rPr lang="en-ID" dirty="0" err="1"/>
              <a:t>dengan</a:t>
            </a:r>
            <a:r>
              <a:rPr lang="en-ID" dirty="0"/>
              <a:t> </a:t>
            </a:r>
            <a:r>
              <a:rPr lang="en-ID" dirty="0" err="1"/>
              <a:t>pemberi</a:t>
            </a:r>
            <a:r>
              <a:rPr lang="en-ID" dirty="0"/>
              <a:t> </a:t>
            </a:r>
            <a:r>
              <a:rPr lang="en-ID" dirty="0" err="1"/>
              <a:t>pinjaman</a:t>
            </a:r>
            <a:r>
              <a:rPr lang="en-ID" dirty="0"/>
              <a:t> </a:t>
            </a:r>
            <a:r>
              <a:rPr lang="en-ID" dirty="0" err="1"/>
              <a:t>sebagai</a:t>
            </a:r>
            <a:r>
              <a:rPr lang="en-ID" dirty="0"/>
              <a:t> </a:t>
            </a:r>
            <a:r>
              <a:rPr lang="en-ID" dirty="0" err="1"/>
              <a:t>evaluasi</a:t>
            </a:r>
            <a:r>
              <a:rPr lang="en-ID" dirty="0"/>
              <a:t> </a:t>
            </a:r>
            <a:r>
              <a:rPr lang="en-ID" dirty="0" err="1"/>
              <a:t>resiko</a:t>
            </a:r>
            <a:r>
              <a:rPr lang="en-ID" dirty="0"/>
              <a:t> </a:t>
            </a:r>
            <a:r>
              <a:rPr lang="en-ID" dirty="0" err="1"/>
              <a:t>kredit</a:t>
            </a:r>
            <a:r>
              <a:rPr lang="en-ID" dirty="0"/>
              <a:t> </a:t>
            </a:r>
            <a:r>
              <a:rPr lang="en-ID" dirty="0" err="1"/>
              <a:t>pinjaman</a:t>
            </a:r>
            <a:r>
              <a:rPr lang="en-ID" dirty="0"/>
              <a:t>. </a:t>
            </a:r>
            <a:endParaRPr lang="en-GB" dirty="0"/>
          </a:p>
        </p:txBody>
      </p:sp>
    </p:spTree>
    <p:extLst>
      <p:ext uri="{BB962C8B-B14F-4D97-AF65-F5344CB8AC3E}">
        <p14:creationId xmlns:p14="http://schemas.microsoft.com/office/powerpoint/2010/main" val="3541956412"/>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bold block presentation</Template>
  <TotalTime>3318</TotalTime>
  <Words>826</Words>
  <Application>Microsoft Office PowerPoint</Application>
  <PresentationFormat>Widescreen</PresentationFormat>
  <Paragraphs>63</Paragraphs>
  <Slides>21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Calibri</vt:lpstr>
      <vt:lpstr>Calibri Light</vt:lpstr>
      <vt:lpstr>Söhne</vt:lpstr>
      <vt:lpstr>Times New Roman</vt:lpstr>
      <vt:lpstr>Wingdings</vt:lpstr>
      <vt:lpstr>Office Theme</vt:lpstr>
      <vt:lpstr>Microsoft Excel Worksheet</vt:lpstr>
      <vt:lpstr>Prediksi Credit Risk VIX Idx Partner</vt:lpstr>
      <vt:lpstr>Problem Statement</vt:lpstr>
      <vt:lpstr>Explaratory Data Analysis</vt:lpstr>
      <vt:lpstr> Dilakukan analisa dari data ternyata nasabah lebih cenderung menggunakan tenor lebih singkat. Hal ini mungkin disebabkan mengambil tenor singkat akan mempercepat pelunasan hutang yang dimiliki nasabah tersebut. Namun dari grafik disamping tercermin bahwa semakin Panjang tenor yang diambil oleh nasabah akan semakin kecil potnsi untuk melakukan keterlambatan, ini mungkin dikarenakan jumlah angsuran dan bunga yang dibebankan lebih rendah jika menggunakan tenor yang lebih Panjang. </vt:lpstr>
      <vt:lpstr>“Resiko Tertinggi berdasarkan Tujuan pinjaman” </vt:lpstr>
      <vt:lpstr>Perbandingan Annual Income &amp; Delinq 2 Years</vt:lpstr>
      <vt:lpstr>Total Verifikasi berdasarkan Durasi kerja </vt:lpstr>
      <vt:lpstr>Data Preprocessing</vt:lpstr>
      <vt:lpstr>Checkpoint</vt:lpstr>
      <vt:lpstr>Rename Columns</vt:lpstr>
      <vt:lpstr>Check Missing Data</vt:lpstr>
      <vt:lpstr>Imputasi Missing Value</vt:lpstr>
      <vt:lpstr>Cross Check Outlier </vt:lpstr>
      <vt:lpstr>PowerPoint Presentation</vt:lpstr>
      <vt:lpstr>Label Encoding </vt:lpstr>
      <vt:lpstr>Feature Selection</vt:lpstr>
      <vt:lpstr>Class Imbalance</vt:lpstr>
      <vt:lpstr>Perbandingan Model Hold Out dengan K-Fold</vt:lpstr>
      <vt:lpstr>PowerPoint Presentation</vt:lpstr>
      <vt:lpstr>Perbandingan Hasil Baseline dengan Model terbaik</vt:lpstr>
      <vt:lpstr>Bussiness Recomendation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Credit Risk VIX Idx Partner</dc:title>
  <dc:creator>Nurul Ilahi</dc:creator>
  <cp:lastModifiedBy>Nurul Ilahi</cp:lastModifiedBy>
  <cp:revision>9</cp:revision>
  <dcterms:created xsi:type="dcterms:W3CDTF">2023-06-02T15:42:17Z</dcterms:created>
  <dcterms:modified xsi:type="dcterms:W3CDTF">2023-10-04T05:58:34Z</dcterms:modified>
</cp:coreProperties>
</file>