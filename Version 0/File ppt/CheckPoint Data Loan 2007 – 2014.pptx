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78" r:id="rId5"/>
    <p:sldId id="279" r:id="rId6"/>
    <p:sldId id="283" r:id="rId7"/>
    <p:sldId id="281" r:id="rId8"/>
    <p:sldId id="282" r:id="rId9"/>
    <p:sldId id="284" r:id="rId10"/>
    <p:sldId id="285" r:id="rId11"/>
    <p:sldId id="289" r:id="rId12"/>
    <p:sldId id="286" r:id="rId13"/>
    <p:sldId id="287" r:id="rId14"/>
    <p:sldId id="28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>
        <p:scale>
          <a:sx n="66" d="100"/>
          <a:sy n="66" d="100"/>
        </p:scale>
        <p:origin x="9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212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759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64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906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959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github.com/NurulIlahiHusnah/" TargetMode="External"/><Relationship Id="rId5" Type="http://schemas.openxmlformats.org/officeDocument/2006/relationships/hyperlink" Target="https://www.linkedin.com/in/nurul-ilahi-husnah27/" TargetMode="Externa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NurulIlahiHusnah/Prediksi-Credit-Risk-VIX-Idx-Partner/tree/main" TargetMode="Externa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CheckPoint</a:t>
            </a:r>
            <a:r>
              <a:rPr lang="en-US" sz="4000" dirty="0"/>
              <a:t> Data Loan 2007 – 2014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2300" dirty="0"/>
              <a:t>Nurul Ilahi </a:t>
            </a:r>
            <a:r>
              <a:rPr lang="en-US" sz="2300" dirty="0" err="1"/>
              <a:t>Husnah</a:t>
            </a:r>
            <a:endParaRPr lang="en-US" sz="2300" dirty="0"/>
          </a:p>
          <a:p>
            <a:pPr algn="l"/>
            <a:r>
              <a:rPr lang="en-US" dirty="0" err="1"/>
              <a:t>Linkedin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click here </a:t>
            </a:r>
            <a:endParaRPr lang="en-US" dirty="0"/>
          </a:p>
          <a:p>
            <a:pPr algn="l"/>
            <a:r>
              <a:rPr lang="en-US" sz="2300" dirty="0" err="1"/>
              <a:t>Portofolio</a:t>
            </a:r>
            <a:r>
              <a:rPr lang="en-US" sz="2300" dirty="0"/>
              <a:t> </a:t>
            </a:r>
            <a:r>
              <a:rPr lang="en-US" sz="2300" dirty="0" err="1">
                <a:hlinkClick r:id="rId6"/>
              </a:rPr>
              <a:t>cklik</a:t>
            </a:r>
            <a:r>
              <a:rPr lang="en-US" sz="2300" dirty="0">
                <a:hlinkClick r:id="rId6"/>
              </a:rPr>
              <a:t> here</a:t>
            </a:r>
            <a:endParaRPr lang="en-US" sz="2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A7F57-5E35-BD27-5C15-769F784010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57" y="1464663"/>
            <a:ext cx="6086496" cy="392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Autofit/>
          </a:bodyPr>
          <a:lstStyle/>
          <a:p>
            <a:r>
              <a:rPr lang="en-US" sz="3400" dirty="0" err="1"/>
              <a:t>Verifikasi</a:t>
            </a:r>
            <a:r>
              <a:rPr lang="en-US" sz="3400" dirty="0"/>
              <a:t> </a:t>
            </a:r>
            <a:r>
              <a:rPr lang="en-US" sz="3400" dirty="0" err="1"/>
              <a:t>berdasarkan</a:t>
            </a:r>
            <a:r>
              <a:rPr lang="en-US" sz="3400" dirty="0"/>
              <a:t> Grade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515951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2400" dirty="0"/>
              <a:t>Status </a:t>
            </a:r>
            <a:r>
              <a:rPr lang="en-US" sz="2400" dirty="0" err="1"/>
              <a:t>verifikasi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data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dibagi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3 </a:t>
            </a:r>
            <a:r>
              <a:rPr lang="en-US" sz="2400" dirty="0" err="1"/>
              <a:t>macam</a:t>
            </a:r>
            <a:r>
              <a:rPr lang="en-US" sz="2400" dirty="0"/>
              <a:t> </a:t>
            </a:r>
            <a:r>
              <a:rPr lang="en-US" sz="2400" dirty="0" err="1"/>
              <a:t>yaitu</a:t>
            </a:r>
            <a:r>
              <a:rPr lang="en-US" sz="2400" dirty="0"/>
              <a:t> :</a:t>
            </a:r>
          </a:p>
          <a:p>
            <a:pPr marL="494100" indent="-457200">
              <a:buAutoNum type="arabicPeriod"/>
            </a:pPr>
            <a:r>
              <a:rPr lang="en-US" sz="2400" dirty="0"/>
              <a:t>Not verified</a:t>
            </a:r>
          </a:p>
          <a:p>
            <a:pPr marL="494100" indent="-457200">
              <a:buAutoNum type="arabicPeriod"/>
            </a:pPr>
            <a:r>
              <a:rPr lang="en-US" sz="2400" dirty="0"/>
              <a:t>Source verified</a:t>
            </a:r>
          </a:p>
          <a:p>
            <a:pPr marL="494100" indent="-457200">
              <a:buAutoNum type="arabicPeriod"/>
            </a:pPr>
            <a:r>
              <a:rPr lang="en-US" sz="2400" dirty="0"/>
              <a:t>Verified </a:t>
            </a:r>
          </a:p>
          <a:p>
            <a:pPr marL="36900" indent="0">
              <a:buNone/>
            </a:pPr>
            <a:r>
              <a:rPr lang="en-US" sz="2400" dirty="0" err="1"/>
              <a:t>Berdasarkan</a:t>
            </a:r>
            <a:r>
              <a:rPr lang="en-US" sz="2400" dirty="0"/>
              <a:t> Analisa </a:t>
            </a:r>
            <a:r>
              <a:rPr lang="en-US" sz="2400" dirty="0" err="1"/>
              <a:t>didapatkan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, </a:t>
            </a:r>
            <a:r>
              <a:rPr lang="en-US" sz="2400" dirty="0" err="1"/>
              <a:t>bahwa</a:t>
            </a:r>
            <a:r>
              <a:rPr lang="en-US" sz="2400" dirty="0"/>
              <a:t> Grade B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verifikasi</a:t>
            </a:r>
            <a:r>
              <a:rPr lang="en-US" sz="2400" dirty="0"/>
              <a:t> yang </a:t>
            </a:r>
            <a:r>
              <a:rPr lang="en-US" sz="2400" dirty="0" err="1"/>
              <a:t>tinggi</a:t>
            </a:r>
            <a:r>
              <a:rPr lang="en-US" sz="2400" dirty="0"/>
              <a:t> </a:t>
            </a:r>
            <a:r>
              <a:rPr lang="en-US" sz="2400" dirty="0" err="1"/>
              <a:t>dibanding</a:t>
            </a:r>
            <a:r>
              <a:rPr lang="en-US" sz="2400" dirty="0"/>
              <a:t> Grade lain. Dan yang paling </a:t>
            </a:r>
            <a:r>
              <a:rPr lang="en-US" sz="2400" dirty="0" err="1"/>
              <a:t>disorot</a:t>
            </a:r>
            <a:r>
              <a:rPr lang="en-US" sz="2400" dirty="0"/>
              <a:t> pada Grade B </a:t>
            </a:r>
            <a:r>
              <a:rPr lang="en-US" sz="2400" dirty="0" err="1"/>
              <a:t>didapat</a:t>
            </a:r>
            <a:r>
              <a:rPr lang="en-US" sz="2400" dirty="0"/>
              <a:t> data </a:t>
            </a:r>
            <a:r>
              <a:rPr lang="en-US" sz="2400" dirty="0" err="1"/>
              <a:t>banyak</a:t>
            </a:r>
            <a:r>
              <a:rPr lang="en-US" sz="2400" dirty="0"/>
              <a:t> yang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verifikasi</a:t>
            </a:r>
            <a:r>
              <a:rPr lang="en-US" sz="2400" dirty="0"/>
              <a:t>, </a:t>
            </a:r>
            <a:r>
              <a:rPr lang="en-US" sz="2400" dirty="0" err="1"/>
              <a:t>sedangkan</a:t>
            </a:r>
            <a:r>
              <a:rPr lang="en-US" sz="2400" dirty="0"/>
              <a:t> pada Grade C data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banyak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verifikasi</a:t>
            </a:r>
            <a:r>
              <a:rPr lang="en-US" sz="2400" dirty="0"/>
              <a:t> </a:t>
            </a:r>
            <a:r>
              <a:rPr lang="en-US" sz="2400" dirty="0" err="1"/>
              <a:t>terlebih</a:t>
            </a:r>
            <a:r>
              <a:rPr lang="en-US" sz="2400" dirty="0"/>
              <a:t> </a:t>
            </a:r>
            <a:r>
              <a:rPr lang="en-US" sz="2400" dirty="0" err="1"/>
              <a:t>dahulu</a:t>
            </a:r>
            <a:r>
              <a:rPr lang="en-US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D31C1-3E56-1A2D-DBC7-AA3971174B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622" y="1256319"/>
            <a:ext cx="6096000" cy="434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556F66-BD0E-9E9E-7343-53ADDEA36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315" y="1306287"/>
            <a:ext cx="5907314" cy="4034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501F86-6137-A11D-BB2B-9A0DB8F4309D}"/>
              </a:ext>
            </a:extLst>
          </p:cNvPr>
          <p:cNvSpPr txBox="1"/>
          <p:nvPr/>
        </p:nvSpPr>
        <p:spPr>
          <a:xfrm>
            <a:off x="682171" y="841829"/>
            <a:ext cx="5050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Disamping</a:t>
            </a:r>
            <a:r>
              <a:rPr lang="en-GB" sz="2400" dirty="0"/>
              <a:t> ini </a:t>
            </a:r>
            <a:r>
              <a:rPr lang="en-GB" sz="2400" dirty="0" err="1"/>
              <a:t>merupakan</a:t>
            </a:r>
            <a:r>
              <a:rPr lang="en-GB" sz="2400" dirty="0"/>
              <a:t> </a:t>
            </a:r>
            <a:r>
              <a:rPr lang="en-GB" sz="2400" dirty="0" err="1"/>
              <a:t>tabel</a:t>
            </a:r>
            <a:r>
              <a:rPr lang="en-GB" sz="2400" dirty="0"/>
              <a:t> </a:t>
            </a:r>
            <a:r>
              <a:rPr lang="en-GB" sz="2400" dirty="0" err="1"/>
              <a:t>kontigensi</a:t>
            </a:r>
            <a:r>
              <a:rPr lang="en-GB" sz="2400" dirty="0"/>
              <a:t> </a:t>
            </a:r>
            <a:endParaRPr lang="en-ID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B5F10-C6B9-B5AB-AD53-FFB5827A3C55}"/>
              </a:ext>
            </a:extLst>
          </p:cNvPr>
          <p:cNvSpPr txBox="1"/>
          <p:nvPr/>
        </p:nvSpPr>
        <p:spPr>
          <a:xfrm>
            <a:off x="682171" y="2104571"/>
            <a:ext cx="5050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Ditarik</a:t>
            </a:r>
            <a:r>
              <a:rPr lang="en-GB" dirty="0"/>
              <a:t> </a:t>
            </a:r>
            <a:r>
              <a:rPr lang="en-GB" dirty="0" err="1"/>
              <a:t>kesimpulan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Analisa </a:t>
            </a:r>
            <a:r>
              <a:rPr lang="en-GB" dirty="0" err="1"/>
              <a:t>tabl</a:t>
            </a:r>
            <a:r>
              <a:rPr lang="en-GB" dirty="0"/>
              <a:t> </a:t>
            </a:r>
            <a:r>
              <a:rPr lang="en-GB" dirty="0" err="1"/>
              <a:t>disamping</a:t>
            </a:r>
            <a:r>
              <a:rPr lang="en-GB" dirty="0"/>
              <a:t> </a:t>
            </a:r>
            <a:r>
              <a:rPr lang="en-GB" dirty="0" err="1"/>
              <a:t>menunjukan</a:t>
            </a:r>
            <a:r>
              <a:rPr lang="en-GB" dirty="0"/>
              <a:t> </a:t>
            </a:r>
            <a:r>
              <a:rPr lang="en-GB" dirty="0" err="1"/>
              <a:t>bahwa</a:t>
            </a:r>
            <a:r>
              <a:rPr lang="en-GB" dirty="0"/>
              <a:t> rata – rata </a:t>
            </a:r>
            <a:r>
              <a:rPr lang="en-GB" dirty="0" err="1"/>
              <a:t>penghasilan</a:t>
            </a:r>
            <a:r>
              <a:rPr lang="en-GB" dirty="0"/>
              <a:t> </a:t>
            </a:r>
            <a:r>
              <a:rPr lang="en-GB" dirty="0" err="1"/>
              <a:t>tahunan</a:t>
            </a:r>
            <a:r>
              <a:rPr lang="en-GB" dirty="0"/>
              <a:t> </a:t>
            </a:r>
            <a:r>
              <a:rPr lang="en-GB" dirty="0" err="1"/>
              <a:t>tertinggi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masing – masing Grade </a:t>
            </a:r>
            <a:r>
              <a:rPr lang="en-GB" dirty="0" err="1"/>
              <a:t>menunjukan</a:t>
            </a:r>
            <a:r>
              <a:rPr lang="en-GB" dirty="0"/>
              <a:t> </a:t>
            </a:r>
            <a:r>
              <a:rPr lang="en-GB" dirty="0" err="1"/>
              <a:t>semakin</a:t>
            </a:r>
            <a:r>
              <a:rPr lang="en-GB" dirty="0"/>
              <a:t> </a:t>
            </a:r>
            <a:r>
              <a:rPr lang="en-GB" dirty="0" err="1"/>
              <a:t>tinggi</a:t>
            </a:r>
            <a:r>
              <a:rPr lang="en-GB" dirty="0"/>
              <a:t> </a:t>
            </a:r>
            <a:r>
              <a:rPr lang="en-GB" dirty="0" err="1"/>
              <a:t>penghasilan</a:t>
            </a:r>
            <a:r>
              <a:rPr lang="en-GB" dirty="0"/>
              <a:t> </a:t>
            </a:r>
            <a:r>
              <a:rPr lang="en-GB" dirty="0" err="1"/>
              <a:t>nasabah</a:t>
            </a:r>
            <a:r>
              <a:rPr lang="en-GB" dirty="0"/>
              <a:t> tersebut </a:t>
            </a:r>
            <a:r>
              <a:rPr lang="en-GB" dirty="0" err="1"/>
              <a:t>maka</a:t>
            </a:r>
            <a:r>
              <a:rPr lang="en-GB" dirty="0"/>
              <a:t> </a:t>
            </a:r>
            <a:r>
              <a:rPr lang="en-GB" dirty="0" err="1"/>
              <a:t>semakin</a:t>
            </a:r>
            <a:r>
              <a:rPr lang="en-GB" dirty="0"/>
              <a:t> </a:t>
            </a:r>
            <a:r>
              <a:rPr lang="en-GB" dirty="0" err="1"/>
              <a:t>kecil</a:t>
            </a:r>
            <a:r>
              <a:rPr lang="en-GB" dirty="0"/>
              <a:t> </a:t>
            </a:r>
            <a:r>
              <a:rPr lang="en-GB" dirty="0" err="1"/>
              <a:t>potensi</a:t>
            </a:r>
            <a:r>
              <a:rPr lang="en-GB" dirty="0"/>
              <a:t> untuk melakukan </a:t>
            </a:r>
            <a:r>
              <a:rPr lang="en-GB" dirty="0" err="1"/>
              <a:t>kenakalan</a:t>
            </a:r>
            <a:r>
              <a:rPr lang="en-GB" dirty="0"/>
              <a:t> </a:t>
            </a:r>
            <a:r>
              <a:rPr lang="en-GB" dirty="0" err="1"/>
              <a:t>pembayaran</a:t>
            </a:r>
            <a:r>
              <a:rPr lang="en-GB" dirty="0"/>
              <a:t>. Hal ini </a:t>
            </a:r>
            <a:r>
              <a:rPr lang="en-GB" dirty="0" err="1"/>
              <a:t>dikarenakan</a:t>
            </a:r>
            <a:r>
              <a:rPr lang="en-GB" dirty="0"/>
              <a:t> </a:t>
            </a:r>
            <a:r>
              <a:rPr lang="en-GB" dirty="0" err="1"/>
              <a:t>nasabah</a:t>
            </a:r>
            <a:r>
              <a:rPr lang="en-GB" dirty="0"/>
              <a:t> yang </a:t>
            </a:r>
            <a:r>
              <a:rPr lang="en-GB" dirty="0" err="1"/>
              <a:t>memiliki</a:t>
            </a:r>
            <a:r>
              <a:rPr lang="en-GB" dirty="0"/>
              <a:t> </a:t>
            </a:r>
            <a:r>
              <a:rPr lang="en-GB" dirty="0" err="1"/>
              <a:t>penghasilan</a:t>
            </a:r>
            <a:r>
              <a:rPr lang="en-GB" dirty="0"/>
              <a:t> </a:t>
            </a:r>
            <a:r>
              <a:rPr lang="en-GB" dirty="0" err="1"/>
              <a:t>tinggi</a:t>
            </a:r>
            <a:r>
              <a:rPr lang="en-GB" dirty="0"/>
              <a:t> lebih </a:t>
            </a:r>
            <a:r>
              <a:rPr lang="en-GB" dirty="0" err="1"/>
              <a:t>menjaga</a:t>
            </a:r>
            <a:r>
              <a:rPr lang="en-GB" dirty="0"/>
              <a:t> </a:t>
            </a:r>
            <a:r>
              <a:rPr lang="en-GB" dirty="0" err="1"/>
              <a:t>manajeman</a:t>
            </a:r>
            <a:r>
              <a:rPr lang="en-GB" dirty="0"/>
              <a:t> </a:t>
            </a:r>
            <a:r>
              <a:rPr lang="en-GB" dirty="0" err="1"/>
              <a:t>keuangan</a:t>
            </a:r>
            <a:r>
              <a:rPr lang="en-GB" dirty="0"/>
              <a:t> mereka untuk tetap </a:t>
            </a:r>
            <a:r>
              <a:rPr lang="en-GB" dirty="0" err="1"/>
              <a:t>stabil</a:t>
            </a:r>
            <a:r>
              <a:rPr lang="en-GB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9752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0" y="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Tenor 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515951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analisa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data </a:t>
            </a:r>
            <a:r>
              <a:rPr lang="en-US" sz="2400" dirty="0" err="1"/>
              <a:t>ternyata</a:t>
            </a:r>
            <a:r>
              <a:rPr lang="en-US" sz="2400" dirty="0"/>
              <a:t> </a:t>
            </a:r>
            <a:r>
              <a:rPr lang="en-US" sz="2400" dirty="0" err="1"/>
              <a:t>nasabah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cenderung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tenor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singkat</a:t>
            </a:r>
            <a:r>
              <a:rPr lang="en-US" sz="2400" dirty="0"/>
              <a:t>. Hal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disebabkan</a:t>
            </a:r>
            <a:r>
              <a:rPr lang="en-US" sz="2400" dirty="0"/>
              <a:t> </a:t>
            </a:r>
            <a:r>
              <a:rPr lang="en-US" sz="2400" dirty="0" err="1"/>
              <a:t>mengambil</a:t>
            </a:r>
            <a:r>
              <a:rPr lang="en-US" sz="2400" dirty="0"/>
              <a:t> tenor </a:t>
            </a:r>
            <a:r>
              <a:rPr lang="en-US" sz="2400" dirty="0" err="1"/>
              <a:t>singkat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mempercepat</a:t>
            </a:r>
            <a:r>
              <a:rPr lang="en-US" sz="2400" dirty="0"/>
              <a:t> </a:t>
            </a:r>
            <a:r>
              <a:rPr lang="en-US" sz="2400" dirty="0" err="1"/>
              <a:t>pelunasan</a:t>
            </a:r>
            <a:r>
              <a:rPr lang="en-US" sz="2400" dirty="0"/>
              <a:t> </a:t>
            </a:r>
            <a:r>
              <a:rPr lang="en-US" sz="2400" dirty="0" err="1"/>
              <a:t>hutang</a:t>
            </a:r>
            <a:r>
              <a:rPr lang="en-US" sz="2400" dirty="0"/>
              <a:t> yang </a:t>
            </a:r>
            <a:r>
              <a:rPr lang="en-US" sz="2400" dirty="0" err="1"/>
              <a:t>dimiliki</a:t>
            </a:r>
            <a:r>
              <a:rPr lang="en-US" sz="2400" dirty="0"/>
              <a:t> </a:t>
            </a:r>
            <a:r>
              <a:rPr lang="en-US" sz="2400" dirty="0" err="1"/>
              <a:t>nasabah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. </a:t>
            </a:r>
            <a:r>
              <a:rPr lang="en-US" sz="2400" dirty="0" err="1"/>
              <a:t>Namun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grafik</a:t>
            </a:r>
            <a:r>
              <a:rPr lang="en-US" sz="2400" dirty="0"/>
              <a:t> </a:t>
            </a:r>
            <a:r>
              <a:rPr lang="en-US" sz="2400" dirty="0" err="1"/>
              <a:t>disamping</a:t>
            </a:r>
            <a:r>
              <a:rPr lang="en-US" sz="2400" dirty="0"/>
              <a:t> </a:t>
            </a:r>
            <a:r>
              <a:rPr lang="en-US" sz="2400" dirty="0" err="1"/>
              <a:t>tercermin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semakin</a:t>
            </a:r>
            <a:r>
              <a:rPr lang="en-US" sz="2400" dirty="0"/>
              <a:t> Panjang tenor yang </a:t>
            </a:r>
            <a:r>
              <a:rPr lang="en-US" sz="2400" dirty="0" err="1"/>
              <a:t>diambil</a:t>
            </a:r>
            <a:r>
              <a:rPr lang="en-US" sz="2400" dirty="0"/>
              <a:t> oleh </a:t>
            </a:r>
            <a:r>
              <a:rPr lang="en-US" sz="2400" dirty="0" err="1"/>
              <a:t>nasabah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semakin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r>
              <a:rPr lang="en-US" sz="2400" dirty="0"/>
              <a:t> </a:t>
            </a:r>
            <a:r>
              <a:rPr lang="en-US" sz="2400" dirty="0" err="1"/>
              <a:t>potnsi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keterlambatan</a:t>
            </a:r>
            <a:r>
              <a:rPr lang="en-US" sz="2400" dirty="0"/>
              <a:t>,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dikarenakan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angsuran</a:t>
            </a:r>
            <a:r>
              <a:rPr lang="en-US" sz="2400" dirty="0"/>
              <a:t> dan </a:t>
            </a:r>
            <a:r>
              <a:rPr lang="en-US" sz="2400" dirty="0" err="1"/>
              <a:t>bunga</a:t>
            </a:r>
            <a:r>
              <a:rPr lang="en-US" sz="2400" dirty="0"/>
              <a:t> yang </a:t>
            </a:r>
            <a:r>
              <a:rPr lang="en-US" sz="2400" dirty="0" err="1"/>
              <a:t>dibebankan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rendah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tenor yang </a:t>
            </a:r>
            <a:r>
              <a:rPr lang="en-US" sz="2400" dirty="0" err="1"/>
              <a:t>lebih</a:t>
            </a:r>
            <a:r>
              <a:rPr lang="en-US" sz="2400" dirty="0"/>
              <a:t> Panjang.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3DBEE5-B76E-C586-E016-4DDB5B864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49110"/>
            <a:ext cx="6096000" cy="315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4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A577-5564-8318-1518-17209ABE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Resiko</a:t>
            </a:r>
            <a:r>
              <a:rPr lang="en-GB" dirty="0"/>
              <a:t> </a:t>
            </a:r>
            <a:r>
              <a:rPr lang="en-GB" dirty="0" err="1"/>
              <a:t>Tertinggi</a:t>
            </a:r>
            <a:r>
              <a:rPr lang="en-GB" dirty="0"/>
              <a:t> </a:t>
            </a:r>
            <a:r>
              <a:rPr lang="en-GB" dirty="0" err="1"/>
              <a:t>berdasarkan</a:t>
            </a:r>
            <a:r>
              <a:rPr lang="en-GB" dirty="0"/>
              <a:t> </a:t>
            </a:r>
            <a:r>
              <a:rPr lang="en-GB" dirty="0" err="1"/>
              <a:t>Tujuan</a:t>
            </a:r>
            <a:r>
              <a:rPr lang="en-GB" dirty="0"/>
              <a:t> pinjaman. 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9D506-FFCC-A0A3-6C9F-BE58DD9E5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Pada histogram </a:t>
            </a:r>
            <a:r>
              <a:rPr lang="en-GB" dirty="0" err="1"/>
              <a:t>disamping</a:t>
            </a:r>
            <a:r>
              <a:rPr lang="en-GB" dirty="0"/>
              <a:t> </a:t>
            </a:r>
            <a:r>
              <a:rPr lang="en-GB" dirty="0" err="1"/>
              <a:t>terlihat</a:t>
            </a:r>
            <a:r>
              <a:rPr lang="en-GB" dirty="0"/>
              <a:t> </a:t>
            </a:r>
            <a:r>
              <a:rPr lang="en-GB" dirty="0" err="1"/>
              <a:t>bahwa</a:t>
            </a:r>
            <a:r>
              <a:rPr lang="en-GB" dirty="0"/>
              <a:t> rata – rata </a:t>
            </a:r>
            <a:r>
              <a:rPr lang="en-GB" dirty="0" err="1"/>
              <a:t>nasabah</a:t>
            </a:r>
            <a:r>
              <a:rPr lang="en-GB" dirty="0"/>
              <a:t> yang </a:t>
            </a:r>
            <a:r>
              <a:rPr lang="en-GB" dirty="0" err="1"/>
              <a:t>mempunyai</a:t>
            </a:r>
            <a:r>
              <a:rPr lang="en-GB" dirty="0"/>
              <a:t> </a:t>
            </a:r>
            <a:r>
              <a:rPr lang="en-GB" dirty="0" err="1"/>
              <a:t>tujuan</a:t>
            </a:r>
            <a:r>
              <a:rPr lang="en-GB" dirty="0"/>
              <a:t> pinjaman untuk </a:t>
            </a:r>
            <a:r>
              <a:rPr lang="en-GB" dirty="0" err="1"/>
              <a:t>memulai</a:t>
            </a:r>
            <a:r>
              <a:rPr lang="en-GB" dirty="0"/>
              <a:t> bisnis </a:t>
            </a:r>
            <a:r>
              <a:rPr lang="en-GB" dirty="0" err="1"/>
              <a:t>cederung</a:t>
            </a:r>
            <a:r>
              <a:rPr lang="en-GB" dirty="0"/>
              <a:t> </a:t>
            </a:r>
            <a:r>
              <a:rPr lang="en-GB" dirty="0" err="1"/>
              <a:t>memiliki</a:t>
            </a:r>
            <a:r>
              <a:rPr lang="en-GB" dirty="0"/>
              <a:t> </a:t>
            </a:r>
            <a:r>
              <a:rPr lang="en-GB" dirty="0" err="1"/>
              <a:t>resiko</a:t>
            </a:r>
            <a:r>
              <a:rPr lang="en-GB" dirty="0"/>
              <a:t> </a:t>
            </a:r>
            <a:r>
              <a:rPr lang="en-GB" dirty="0" err="1"/>
              <a:t>tinggi</a:t>
            </a:r>
            <a:r>
              <a:rPr lang="en-GB" dirty="0"/>
              <a:t> untuk default. Hal ini </a:t>
            </a:r>
            <a:r>
              <a:rPr lang="en-GB" dirty="0" err="1"/>
              <a:t>terjadi</a:t>
            </a:r>
            <a:r>
              <a:rPr lang="en-GB" dirty="0"/>
              <a:t> </a:t>
            </a:r>
            <a:r>
              <a:rPr lang="en-GB" dirty="0" err="1"/>
              <a:t>karena</a:t>
            </a:r>
            <a:r>
              <a:rPr lang="en-GB" dirty="0"/>
              <a:t> untuk </a:t>
            </a:r>
            <a:r>
              <a:rPr lang="en-GB" dirty="0" err="1"/>
              <a:t>besnis</a:t>
            </a:r>
            <a:r>
              <a:rPr lang="en-GB" dirty="0"/>
              <a:t> </a:t>
            </a:r>
            <a:r>
              <a:rPr lang="en-GB" dirty="0" err="1"/>
              <a:t>pemula</a:t>
            </a:r>
            <a:r>
              <a:rPr lang="en-GB" dirty="0"/>
              <a:t> </a:t>
            </a:r>
            <a:r>
              <a:rPr lang="en-GB" dirty="0" err="1"/>
              <a:t>harus</a:t>
            </a:r>
            <a:r>
              <a:rPr lang="en-GB" dirty="0"/>
              <a:t> bisa </a:t>
            </a:r>
            <a:r>
              <a:rPr lang="en-GB" dirty="0" err="1"/>
              <a:t>memiliki</a:t>
            </a:r>
            <a:r>
              <a:rPr lang="en-GB" dirty="0"/>
              <a:t> </a:t>
            </a:r>
            <a:r>
              <a:rPr lang="en-GB" dirty="0" err="1"/>
              <a:t>pondasi</a:t>
            </a:r>
            <a:r>
              <a:rPr lang="en-GB" dirty="0"/>
              <a:t> yang </a:t>
            </a:r>
            <a:r>
              <a:rPr lang="en-GB" dirty="0" err="1"/>
              <a:t>kuat</a:t>
            </a:r>
            <a:r>
              <a:rPr lang="en-GB" dirty="0"/>
              <a:t> untuk bisa </a:t>
            </a:r>
            <a:r>
              <a:rPr lang="en-GB" dirty="0" err="1"/>
              <a:t>bersaing</a:t>
            </a:r>
            <a:r>
              <a:rPr lang="en-GB" dirty="0"/>
              <a:t> </a:t>
            </a:r>
            <a:r>
              <a:rPr lang="en-GB" dirty="0" err="1"/>
              <a:t>dipasar</a:t>
            </a:r>
            <a:r>
              <a:rPr lang="en-GB" dirty="0"/>
              <a:t> </a:t>
            </a:r>
            <a:r>
              <a:rPr lang="en-GB" dirty="0" err="1"/>
              <a:t>menghadapi</a:t>
            </a:r>
            <a:r>
              <a:rPr lang="en-GB" dirty="0"/>
              <a:t> pada competitor yang </a:t>
            </a:r>
            <a:r>
              <a:rPr lang="en-GB" dirty="0" err="1"/>
              <a:t>ada</a:t>
            </a:r>
            <a:r>
              <a:rPr lang="en-GB" dirty="0"/>
              <a:t>. Selain itu perlu </a:t>
            </a:r>
            <a:r>
              <a:rPr lang="en-GB" dirty="0" err="1"/>
              <a:t>manajemen</a:t>
            </a:r>
            <a:r>
              <a:rPr lang="en-GB" dirty="0"/>
              <a:t> </a:t>
            </a:r>
            <a:r>
              <a:rPr lang="en-GB" dirty="0" err="1"/>
              <a:t>keuangan</a:t>
            </a:r>
            <a:r>
              <a:rPr lang="en-GB" dirty="0"/>
              <a:t> yang baik dan </a:t>
            </a:r>
            <a:r>
              <a:rPr lang="en-GB" dirty="0" err="1"/>
              <a:t>sumbr</a:t>
            </a:r>
            <a:r>
              <a:rPr lang="en-GB" dirty="0"/>
              <a:t> </a:t>
            </a:r>
            <a:r>
              <a:rPr lang="en-GB" dirty="0" err="1"/>
              <a:t>pendanaan</a:t>
            </a:r>
            <a:r>
              <a:rPr lang="en-GB" dirty="0"/>
              <a:t> yang baik untuk bisa tetap survive dalam pasar.  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ABDB25-C378-25F2-9DF9-F87E15236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18" y="826103"/>
            <a:ext cx="5320270" cy="520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8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dirty="0" err="1"/>
              <a:t>Suku</a:t>
            </a:r>
            <a:r>
              <a:rPr lang="en-US" sz="4000" dirty="0"/>
              <a:t> Bunga </a:t>
            </a:r>
            <a:r>
              <a:rPr lang="en-US" sz="4000" dirty="0" err="1"/>
              <a:t>berdasarkan</a:t>
            </a:r>
            <a:r>
              <a:rPr lang="en-US" sz="4000" dirty="0"/>
              <a:t> Grade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/>
              <a:t>Dari </a:t>
            </a:r>
            <a:r>
              <a:rPr lang="en-US" sz="2400" dirty="0" err="1"/>
              <a:t>semua</a:t>
            </a:r>
            <a:r>
              <a:rPr lang="en-US" sz="2400" dirty="0"/>
              <a:t> Grade yang </a:t>
            </a:r>
            <a:r>
              <a:rPr lang="en-US" sz="2400" dirty="0" err="1"/>
              <a:t>ada</a:t>
            </a:r>
            <a:r>
              <a:rPr lang="en-US" sz="2400" dirty="0"/>
              <a:t> sub grade G3 </a:t>
            </a:r>
            <a:r>
              <a:rPr lang="en-US" sz="2400" dirty="0" err="1"/>
              <a:t>memiliki</a:t>
            </a:r>
            <a:r>
              <a:rPr lang="en-US" sz="2400" dirty="0"/>
              <a:t> rate paling </a:t>
            </a:r>
            <a:r>
              <a:rPr lang="en-US" sz="2400" dirty="0" err="1"/>
              <a:t>tinggisebesar</a:t>
            </a:r>
            <a:r>
              <a:rPr lang="en-US" sz="2400" dirty="0"/>
              <a:t> 25,04%.</a:t>
            </a:r>
          </a:p>
          <a:p>
            <a:pPr marL="36900" indent="0">
              <a:buNone/>
            </a:pPr>
            <a:r>
              <a:rPr lang="en-US" sz="2400" dirty="0"/>
              <a:t>Dari </a:t>
            </a:r>
            <a:r>
              <a:rPr lang="en-US" sz="2400" dirty="0" err="1"/>
              <a:t>grafik</a:t>
            </a:r>
            <a:r>
              <a:rPr lang="en-US" sz="2400" dirty="0"/>
              <a:t> </a:t>
            </a:r>
            <a:r>
              <a:rPr lang="en-US" sz="2400" dirty="0" err="1"/>
              <a:t>terlihat</a:t>
            </a:r>
            <a:r>
              <a:rPr lang="en-US" sz="2400" dirty="0"/>
              <a:t> </a:t>
            </a:r>
            <a:r>
              <a:rPr lang="en-US" sz="2400" dirty="0" err="1"/>
              <a:t>sematin</a:t>
            </a:r>
            <a:r>
              <a:rPr lang="en-US" sz="2400" dirty="0"/>
              <a:t> </a:t>
            </a:r>
            <a:r>
              <a:rPr lang="en-US" sz="2400" dirty="0" err="1"/>
              <a:t>tinggi</a:t>
            </a:r>
            <a:r>
              <a:rPr lang="en-US" sz="2400" dirty="0"/>
              <a:t> grade </a:t>
            </a:r>
            <a:r>
              <a:rPr lang="en-US" sz="2400" dirty="0" err="1"/>
              <a:t>semakin</a:t>
            </a:r>
            <a:r>
              <a:rPr lang="en-US" sz="2400" dirty="0"/>
              <a:t> </a:t>
            </a:r>
            <a:r>
              <a:rPr lang="en-US" sz="2400" dirty="0" err="1"/>
              <a:t>tinggi</a:t>
            </a:r>
            <a:r>
              <a:rPr lang="en-US" sz="2400" dirty="0"/>
              <a:t> juga rate yang di </a:t>
            </a:r>
            <a:r>
              <a:rPr lang="en-US" sz="2400" dirty="0" err="1"/>
              <a:t>gunakan</a:t>
            </a:r>
            <a:r>
              <a:rPr lang="en-US" sz="2400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1229F-D4D7-7071-0EBD-BDAB4081F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9637" y="1291204"/>
            <a:ext cx="6167015" cy="427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2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F9CA-4207-EB79-D2BD-7258037B6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70" y="566057"/>
            <a:ext cx="4663557" cy="1257300"/>
          </a:xfrm>
        </p:spPr>
        <p:txBody>
          <a:bodyPr/>
          <a:lstStyle/>
          <a:p>
            <a:r>
              <a:rPr lang="en-GB" dirty="0" err="1"/>
              <a:t>Deteksi</a:t>
            </a:r>
            <a:r>
              <a:rPr lang="en-GB" dirty="0"/>
              <a:t> outlier 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2A17D-5C6C-F177-6D71-7D70EC54B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771" y="1166812"/>
            <a:ext cx="6328229" cy="4524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EFE566-91CA-EA2A-86A8-8DEB4D54AD71}"/>
              </a:ext>
            </a:extLst>
          </p:cNvPr>
          <p:cNvSpPr txBox="1"/>
          <p:nvPr/>
        </p:nvSpPr>
        <p:spPr>
          <a:xfrm>
            <a:off x="890392" y="1823357"/>
            <a:ext cx="46635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Disamping</a:t>
            </a:r>
            <a:r>
              <a:rPr lang="en-GB" dirty="0"/>
              <a:t> ini </a:t>
            </a:r>
            <a:r>
              <a:rPr lang="en-GB" dirty="0" err="1"/>
              <a:t>merupakan</a:t>
            </a:r>
            <a:r>
              <a:rPr lang="en-GB" dirty="0"/>
              <a:t> visualisasi boxplot </a:t>
            </a:r>
            <a:r>
              <a:rPr lang="en-GB" dirty="0" err="1"/>
              <a:t>dari</a:t>
            </a:r>
            <a:r>
              <a:rPr lang="en-GB" dirty="0"/>
              <a:t> semua feature numerical. </a:t>
            </a:r>
            <a:r>
              <a:rPr lang="en-GB" dirty="0" err="1"/>
              <a:t>Hampir</a:t>
            </a:r>
            <a:r>
              <a:rPr lang="en-GB" dirty="0"/>
              <a:t> </a:t>
            </a:r>
            <a:r>
              <a:rPr lang="en-GB" dirty="0" err="1"/>
              <a:t>seluruh</a:t>
            </a:r>
            <a:r>
              <a:rPr lang="en-GB" dirty="0"/>
              <a:t> feature numerical </a:t>
            </a:r>
            <a:r>
              <a:rPr lang="en-GB" dirty="0" err="1"/>
              <a:t>memiliki</a:t>
            </a:r>
            <a:r>
              <a:rPr lang="en-GB" dirty="0"/>
              <a:t> outlier </a:t>
            </a:r>
            <a:r>
              <a:rPr lang="en-GB" dirty="0" err="1"/>
              <a:t>hal</a:t>
            </a:r>
            <a:r>
              <a:rPr lang="en-GB" dirty="0"/>
              <a:t> ini perlu </a:t>
            </a:r>
            <a:r>
              <a:rPr lang="en-GB" dirty="0" err="1"/>
              <a:t>dilakukan</a:t>
            </a:r>
            <a:r>
              <a:rPr lang="en-GB" dirty="0"/>
              <a:t> Analisa lebih lanjut untuk </a:t>
            </a:r>
            <a:r>
              <a:rPr lang="en-GB" dirty="0" err="1"/>
              <a:t>mengetahui</a:t>
            </a:r>
            <a:r>
              <a:rPr lang="en-GB" dirty="0"/>
              <a:t> </a:t>
            </a:r>
            <a:r>
              <a:rPr lang="en-GB" dirty="0" err="1"/>
              <a:t>penangan</a:t>
            </a:r>
            <a:r>
              <a:rPr lang="en-GB" dirty="0"/>
              <a:t> </a:t>
            </a:r>
            <a:r>
              <a:rPr lang="en-GB" dirty="0" err="1"/>
              <a:t>apa</a:t>
            </a:r>
            <a:r>
              <a:rPr lang="en-GB" dirty="0"/>
              <a:t> yang </a:t>
            </a:r>
            <a:r>
              <a:rPr lang="en-GB" dirty="0" err="1"/>
              <a:t>tepat</a:t>
            </a:r>
            <a:r>
              <a:rPr lang="en-GB" dirty="0"/>
              <a:t> untuk outlier tersebut. </a:t>
            </a:r>
            <a:r>
              <a:rPr lang="en-GB" dirty="0" err="1"/>
              <a:t>Mengingat</a:t>
            </a:r>
            <a:r>
              <a:rPr lang="en-GB" dirty="0"/>
              <a:t> data yang </a:t>
            </a:r>
            <a:r>
              <a:rPr lang="en-GB" dirty="0" err="1"/>
              <a:t>dimiliki</a:t>
            </a:r>
            <a:r>
              <a:rPr lang="en-GB" dirty="0"/>
              <a:t> adalah data </a:t>
            </a:r>
            <a:r>
              <a:rPr lang="en-GB" dirty="0" err="1"/>
              <a:t>dari</a:t>
            </a:r>
            <a:r>
              <a:rPr lang="en-GB" dirty="0"/>
              <a:t> salah </a:t>
            </a:r>
            <a:r>
              <a:rPr lang="en-GB" dirty="0" err="1"/>
              <a:t>satu</a:t>
            </a:r>
            <a:r>
              <a:rPr lang="en-GB" dirty="0"/>
              <a:t> Lembaga </a:t>
            </a:r>
            <a:r>
              <a:rPr lang="en-GB" dirty="0" err="1"/>
              <a:t>keuangan</a:t>
            </a:r>
            <a:r>
              <a:rPr lang="en-GB" dirty="0"/>
              <a:t> yang </a:t>
            </a:r>
            <a:r>
              <a:rPr lang="en-GB" dirty="0" err="1"/>
              <a:t>cenderung</a:t>
            </a:r>
            <a:r>
              <a:rPr lang="en-GB" dirty="0"/>
              <a:t> wajar jika </a:t>
            </a:r>
            <a:r>
              <a:rPr lang="en-GB" dirty="0" err="1"/>
              <a:t>terdapat</a:t>
            </a:r>
            <a:r>
              <a:rPr lang="en-GB" dirty="0"/>
              <a:t> </a:t>
            </a:r>
            <a:r>
              <a:rPr lang="en-GB" dirty="0" err="1"/>
              <a:t>nilai</a:t>
            </a:r>
            <a:r>
              <a:rPr lang="en-GB" dirty="0"/>
              <a:t> outlier.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29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12200622" cy="68579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051388-0E1D-80D7-554E-18ECDC01CAAE}"/>
              </a:ext>
            </a:extLst>
          </p:cNvPr>
          <p:cNvSpPr txBox="1"/>
          <p:nvPr/>
        </p:nvSpPr>
        <p:spPr>
          <a:xfrm>
            <a:off x="3686629" y="478977"/>
            <a:ext cx="4252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Rata – rata  Annual Income per Negara </a:t>
            </a:r>
            <a:endParaRPr lang="en-ID" sz="24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F1A06-C5EC-51EC-B234-C7DCDBC7E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622" y="1320337"/>
            <a:ext cx="12192000" cy="513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68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 err="1"/>
              <a:t>Tujuan</a:t>
            </a:r>
            <a:r>
              <a:rPr lang="en-US" sz="4000" dirty="0"/>
              <a:t> </a:t>
            </a:r>
            <a:r>
              <a:rPr lang="en-US" sz="4000" dirty="0" err="1"/>
              <a:t>pinjaman</a:t>
            </a:r>
            <a:r>
              <a:rPr lang="en-US" sz="4000" dirty="0"/>
              <a:t> 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lnSpcReduction="10000"/>
          </a:bodyPr>
          <a:lstStyle/>
          <a:p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keseluruhan</a:t>
            </a:r>
            <a:r>
              <a:rPr lang="en-US" sz="2400" dirty="0"/>
              <a:t> </a:t>
            </a:r>
            <a:r>
              <a:rPr lang="en-US" sz="2400" dirty="0" err="1"/>
              <a:t>nasabah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data yang </a:t>
            </a:r>
            <a:r>
              <a:rPr lang="en-US" sz="2400" dirty="0" err="1"/>
              <a:t>dimiliki</a:t>
            </a:r>
            <a:r>
              <a:rPr lang="en-US" sz="2400" dirty="0"/>
              <a:t>,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tujuan</a:t>
            </a:r>
            <a:r>
              <a:rPr lang="en-US" sz="2400" dirty="0"/>
              <a:t> debt consolidation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pinjaman</a:t>
            </a:r>
            <a:r>
              <a:rPr lang="en-US" sz="2400" dirty="0"/>
              <a:t>. Hal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menarik</a:t>
            </a:r>
            <a:r>
              <a:rPr lang="en-US" sz="2400" dirty="0"/>
              <a:t> </a:t>
            </a:r>
            <a:r>
              <a:rPr lang="en-US" sz="2400" dirty="0" err="1"/>
              <a:t>dipelajari</a:t>
            </a:r>
            <a:r>
              <a:rPr lang="en-US" sz="2400" dirty="0"/>
              <a:t> </a:t>
            </a:r>
            <a:r>
              <a:rPr lang="en-US" sz="2400" dirty="0" err="1"/>
              <a:t>dikarenakan</a:t>
            </a:r>
            <a:r>
              <a:rPr lang="en-US" sz="2400" dirty="0"/>
              <a:t>, debt consolidation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penggabungan</a:t>
            </a:r>
            <a:r>
              <a:rPr lang="en-US" sz="2400" dirty="0"/>
              <a:t> </a:t>
            </a:r>
            <a:r>
              <a:rPr lang="en-US" sz="2400" dirty="0" err="1"/>
              <a:t>hutang</a:t>
            </a:r>
            <a:r>
              <a:rPr lang="en-US" sz="2400" dirty="0"/>
              <a:t> </a:t>
            </a:r>
            <a:r>
              <a:rPr lang="en-US" sz="2400" dirty="0" err="1"/>
              <a:t>mnjadi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memudahkan</a:t>
            </a:r>
            <a:r>
              <a:rPr lang="en-US" sz="2400" dirty="0"/>
              <a:t> </a:t>
            </a:r>
            <a:r>
              <a:rPr lang="en-US" sz="2400" dirty="0" err="1"/>
              <a:t>pembayaran</a:t>
            </a:r>
            <a:r>
              <a:rPr lang="en-US" sz="2400" dirty="0"/>
              <a:t> </a:t>
            </a:r>
            <a:r>
              <a:rPr lang="en-US" sz="2400" dirty="0" err="1"/>
              <a:t>hutang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42FCE-FB66-3131-1F78-830FBE258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8914"/>
            <a:ext cx="6087378" cy="499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06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6E15C1-D4DF-CA00-C848-106A939C56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16"/>
          <a:stretch/>
        </p:blipFill>
        <p:spPr>
          <a:xfrm>
            <a:off x="7301365" y="778275"/>
            <a:ext cx="4672963" cy="5419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E7FFBF-EBD2-CD2A-D904-9444E644948A}"/>
              </a:ext>
            </a:extLst>
          </p:cNvPr>
          <p:cNvSpPr txBox="1"/>
          <p:nvPr/>
        </p:nvSpPr>
        <p:spPr>
          <a:xfrm>
            <a:off x="1436914" y="2220686"/>
            <a:ext cx="5370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yang </a:t>
            </a:r>
            <a:r>
              <a:rPr lang="en-GB" dirty="0" err="1"/>
              <a:t>saat</a:t>
            </a:r>
            <a:r>
              <a:rPr lang="en-GB" dirty="0"/>
              <a:t> ini </a:t>
            </a:r>
            <a:r>
              <a:rPr lang="en-GB" dirty="0" err="1"/>
              <a:t>dimiliki</a:t>
            </a:r>
            <a:r>
              <a:rPr lang="en-GB" dirty="0"/>
              <a:t>, data yang </a:t>
            </a:r>
            <a:r>
              <a:rPr lang="en-GB" dirty="0" err="1"/>
              <a:t>memiliki</a:t>
            </a:r>
            <a:r>
              <a:rPr lang="en-GB" dirty="0"/>
              <a:t> </a:t>
            </a:r>
            <a:r>
              <a:rPr lang="en-GB" dirty="0" err="1"/>
              <a:t>nasabah</a:t>
            </a:r>
            <a:r>
              <a:rPr lang="en-GB" dirty="0"/>
              <a:t> yang </a:t>
            </a:r>
            <a:r>
              <a:rPr lang="en-GB" dirty="0" err="1"/>
              <a:t>masih</a:t>
            </a:r>
            <a:r>
              <a:rPr lang="en-GB" dirty="0"/>
              <a:t> melakukan </a:t>
            </a:r>
            <a:r>
              <a:rPr lang="en-GB" dirty="0" err="1"/>
              <a:t>pembayaran</a:t>
            </a:r>
            <a:r>
              <a:rPr lang="en-GB" dirty="0"/>
              <a:t>, dan yang sudah </a:t>
            </a:r>
            <a:r>
              <a:rPr lang="en-GB" dirty="0" err="1"/>
              <a:t>lunas</a:t>
            </a:r>
            <a:r>
              <a:rPr lang="en-GB" dirty="0"/>
              <a:t>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76984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12200622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073C52-247F-C2A1-C89A-32A288082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434" y="1181908"/>
            <a:ext cx="9626510" cy="47165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051388-0E1D-80D7-554E-18ECDC01CAAE}"/>
              </a:ext>
            </a:extLst>
          </p:cNvPr>
          <p:cNvSpPr txBox="1"/>
          <p:nvPr/>
        </p:nvSpPr>
        <p:spPr>
          <a:xfrm>
            <a:off x="3686629" y="478977"/>
            <a:ext cx="4252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</a:rPr>
              <a:t>Heatmap</a:t>
            </a:r>
            <a:r>
              <a:rPr lang="en-GB" dirty="0">
                <a:solidFill>
                  <a:schemeClr val="bg1"/>
                </a:solidFill>
              </a:rPr>
              <a:t> 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F57A3F-4210-F3D3-9E4F-54035238D0FE}"/>
              </a:ext>
            </a:extLst>
          </p:cNvPr>
          <p:cNvSpPr txBox="1"/>
          <p:nvPr/>
        </p:nvSpPr>
        <p:spPr>
          <a:xfrm>
            <a:off x="8229600" y="6455391"/>
            <a:ext cx="396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hlinkClick r:id="rId5"/>
              </a:rPr>
              <a:t>Click disini untuk melihat hasil Analisa lebih </a:t>
            </a:r>
            <a:r>
              <a:rPr lang="en-GB" sz="1400" dirty="0" err="1">
                <a:solidFill>
                  <a:schemeClr val="bg1"/>
                </a:solidFill>
                <a:hlinkClick r:id="rId5"/>
              </a:rPr>
              <a:t>lengkap</a:t>
            </a:r>
            <a:endParaRPr lang="en-ID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405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{7CC0637A-BBA8-418B-8F68-C1A1FB4BC8DF}tf55705232_win32</Template>
  <TotalTime>566</TotalTime>
  <Words>441</Words>
  <Application>Microsoft Office PowerPoint</Application>
  <PresentationFormat>Widescreen</PresentationFormat>
  <Paragraphs>33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Goudy Old Style</vt:lpstr>
      <vt:lpstr>Wingdings 2</vt:lpstr>
      <vt:lpstr>SlateVTI</vt:lpstr>
      <vt:lpstr>CheckPoint Data Loan 2007 – 2014 </vt:lpstr>
      <vt:lpstr>Verifikasi berdasarkan Grade </vt:lpstr>
      <vt:lpstr>PowerPoint Presentation</vt:lpstr>
      <vt:lpstr>Tenor </vt:lpstr>
      <vt:lpstr>Resiko Tertinggi berdasarkan Tujuan pinjaman. </vt:lpstr>
      <vt:lpstr>Suku Bunga berdasarkan Grade</vt:lpstr>
      <vt:lpstr>Deteksi outlier </vt:lpstr>
      <vt:lpstr>PowerPoint Presentation</vt:lpstr>
      <vt:lpstr>Tujuan pinjaman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CheckPoint Data Loan 2007 – 2014 </dc:title>
  <dc:creator>Nurul Ilahi</dc:creator>
  <cp:lastModifiedBy>Nurul Ilahi</cp:lastModifiedBy>
  <cp:revision>4</cp:revision>
  <dcterms:created xsi:type="dcterms:W3CDTF">2023-09-11T03:13:18Z</dcterms:created>
  <dcterms:modified xsi:type="dcterms:W3CDTF">2023-09-16T06:31:32Z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